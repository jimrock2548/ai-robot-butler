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แนะนำชื่อโครงงานและผู้จัดทำ ระบบนี้เชื่อมเว็บผู้ดูแลและเว็บผู้มาเยือนเข้ากับหุ่นผ่าน Backend และเพิ่ม AI local สำหรับคำขอภาษาธรรมชาติ เนื้อหาครั้งนี้อ้างอิงโค้ดและผลทดสอบที่บันทึกไว้ ไม่ได้ต่อหุ่นระหว่างจัดทำสไลด์ ตั้งใจใช้สไลด์หลัก 16 หน้าในเวลาประมาณ 10–15 นาที และอีก 2 หน้าเป็นข้อมูลสำรอง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ปัญหาแรกคือผู้มาเยือนต้องการข้อมูลและจุดหมายที่ถูกต้อง ปัญหาที่สองคือเจ้าหน้าที่ต้องเห็นแผนที่และสถานะงานร่วมกัน ส่วนการใช้ AI มีความเสี่ยงตีความคำถามหรือคำปฏิเสธเป็นคำสั่ง จึงออกแบบให้ AI เสนอเจตนา และ Backend ตรวจอีกชั้นก่อนส่งงาน นี่เป็นโจทย์การออกแบบ ไม่ใช่ผลสำรวจผู้ใช้ที่เก็บแล้ว</a:t>
            </a:r>
          </a:p>
          <a:p/>
          <a:p>
            <a:r>
              <a:t>หลักฐาน: SPEC.md; robotAiService.ts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เป้าหมายประกอบด้วยเว็บไซต์แยกสำหรับเจ้าหน้าที่และผู้มาเยือน การแสดงแผนที่และจัดการ POI การรับคำขอหลายสำนวน และการทดสอบก่อนทดลองเคลื่อนที่จริง จุดเน้นคือใช้รายการจุดหมายและข้อมูลจากหุ่นเป็นแหล่งอ้างอิง รวมทั้งตรวจงานและสิทธิ์ก่อนเริ่ม</a:t>
            </a:r>
          </a:p>
          <a:p/>
          <a:p>
            <a:r>
              <a:t>หลักฐาน: PROGRESS.md; SPEC.md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ลูกค้าสองเว็บไซต์ไม่สั่งหุ่นจากเบราว์เซอร์โดยตรง Admin ใช้ session และ Kiosk ใช้ token ผ่าน server-side proxy Backend เชื่อม PostgreSQL หุ่น และโมเดล Qwen ผ่าน llama-server โดยการค้นหา SearXNG เป็นบริการเสริม เส้นทางนี้ช่วยรวมการตรวจสิทธิ์ งาน และการบันทึกไว้ส่วนกลาง</a:t>
            </a:r>
          </a:p>
          <a:p/>
          <a:p>
            <a:r>
              <a:t>หลักฐาน: apps/admin; apps/kiosk; apps/backend; packages/shared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เจ้าหน้าที่มีบทบาท viewer, operator และ admin ส่วนผู้มาเยือนใช้ Kiosk และเลือกได้เฉพาะ POI ที่อนุญาต จุดที่ metadata.is_public เป็น false ถูกกรองออก Kiosk หยุดงานของตนเองได้ แต่หยุดงานที่มาจากเจ้าหน้าที่ไม่ได้ ข้อจำกัดตรวจใน Backend ไม่ได้อาศัยปุ่มที่ซ่อนบนหน้าจออย่างเดียว</a:t>
            </a:r>
          </a:p>
          <a:p/>
          <a:p>
            <a:r>
              <a:t>หลักฐาน: routes/kiosk.ts; middleware/auth.ts; kioskHardwareAi.test.ts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แผนที่กริดมี origin และ resolution ซึ่งต้องรักษาไว้เมื่อแสดงบนเว็บ รวมถึงค่าจุดกำเนิดติดลบ ระบบแสดงหุ่น แท่นชาร์จ LiDAR และ POI และรองรับซูมลาก การแก้ชื่อ พิกัด ทิศและ aliases ต้องอ่านข้อมูลกลับก่อนรายงานสำเร็จ ภาพบนสไลด์เป็นภาพอธิบาย ไม่ใช่ภาพแผนที่จริง ผลอ่านข้อมูลสดเป็นหลักฐานจากรอบที่เคยเชื่อมต่อ</a:t>
            </a:r>
          </a:p>
          <a:p/>
          <a:p>
            <a:r>
              <a:t>หลักฐาน: LiveRobotMap.tsx; RobotMapEditor.tsx; hermesClient.ts; PROGRESS.md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การสั่งด้วย joystick ต้องถือ manual lock ที่มี TTL และ heartbeat การนำทางต้องมีแผนที่อายุไม่เกิน 5 วินาที อยู่ในโหมดระบุตำแหน่ง และมีคุณภาพอย่างน้อย 50 จุดหมายต้องอยู่ในแผนที่และเป็นพื้นที่ว่างตามค่าที่อ่าน หุ่นต้องไม่มีงานหรือ lock ขัดกัน มี halt และ E-Stop แต่พฤติกรรมหยุดจริงยังรอตรวจรับ โหมดกลับแท่นอัตโนมัติปิดไว้ในห้องแลป</a:t>
            </a:r>
          </a:p>
          <a:p/>
          <a:p>
            <a:r>
              <a:t>หลักฐาน: navigationPolicy.ts; driver.ts; manualHardware.test.ts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วิธีแรกคือกฎรูปประโยคและชื่อเรียกอื่น เช่น ทางเข้าตรงกับ POI หน้าประตู ช่วยให้คำขอชัดเจนตอบเร็ว วิธีที่สองใช้โมเดลตีความประโยคอ้อมหรือจุดหมายที่อยู่ก่อนคำขอ โมเดลคืน JSON โดยจำกัดรหัสปลายทาง ความมั่นใจที่โมเดลรายงานไม่ใช่สิทธิ์ให้เดิน Backend ยังตรวจความหมายและสถานะหุ่น</a:t>
            </a:r>
          </a:p>
          <a:p/>
          <a:p>
            <a:r>
              <a:t>หลักฐาน: robotLanguage.ts; robotIntent.ts; docs/benchmark-ai.md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อธิบายเส้นทางจากข้อความถึงงาน: อ่านรายการ POI ที่อนุญาต จำแนกเจตนา ตรวจ JSON schema ตรวจชื่อและความกำกวม แล้วอ่านพิกัดใหม่ก่อน dispatch การปฏิเสธหรือถามกลับไม่สร้างงาน dry-run คืนเพียงผลตีความ ส่วนงานจริงผ่านเงื่อนไขการนำทาง คำหยุดที่รองรับข้ามโมเดล และทำให้ผลที่กำลังรอ dispatch ภายหลังไม่ได้</a:t>
            </a:r>
          </a:p>
          <a:p/>
          <a:p>
            <a:r>
              <a:t>หลักฐาน: robotAiService.ts; robotIntent.ts; robotAi.test.ts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ใช้ตัวอย่างแสดงความต่างของคำขอ คำถาม คำปฏิเสธและความกำกวม ชื่อห้องประชุมหรือห้องเล็กในสไลด์เป็นตัวอย่างจาก benchmark ไม่ได้ยืนยันว่าบนหุ่นปัจจุบันมีจุดเหล่านี้ คำถามตำแหน่งต้องตอบข้อมูล คำปฏิเสธไม่เดิน และชื่อกำกวมต้องถามใหม่ การเก็บคำตอบถามกลับข้ามข้อความยังเป็นงานถัดไป</a:t>
            </a:r>
          </a:p>
          <a:p/>
          <a:p>
            <a:r>
              <a:t>หลักฐาน: benchmarks/robot-ai/cases.json; robotLanguage.test.ts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ตัวเลือกโหมดที่เพิ่มล่าสุดเป็น preference บนเว็บ บันทึกไว้ใน localStorage และเลือกได้เมื่ออุปกรณ์ไม่เชื่อมต่อ โหมดปกติหมายถึงแนวทางใช้แผนที่และ POI เดิม โหมดสำรวจเป็นตัวเลือกเตรียมสำรวจและสร้างแผนที่ แต่ยังไม่มี API เปลี่ยนโหมดจริง การเลือกหรือเชื่อมต่อใหม่ไม่ส่งคำสั่งและไม่เริ่มสำรวจอัตโนมัติ</a:t>
            </a:r>
          </a:p>
          <a:p/>
          <a:p>
            <a:r>
              <a:t>หลักฐาน: RobotOperatingMode.tsx; PROGRESS.md 11 October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ชุด regression มี 40 ข้อความและ 6 POI fixture ทดสอบการจำแนกและ policy รวมกัน ให้ผ่านเมื่อ outcome และรหัสจุดหมายตรงกับ expected เปรียบเทียบ policy เดิม hybrid และ model เป็นหลัก Runner บังคับหุ่นจำลอง ฐานข้อมูล memory และ dry-run พร้อมจำกัด network เฉพาะโมเดล ไม่ใช้เป็นผลทดสอบการเดินจริง</a:t>
            </a:r>
          </a:p>
          <a:p/>
          <a:p>
            <a:r>
              <a:t>หลักฐาน: benchmark-robot-ai.ts; cases.json; reports/ai-benchmark/*.json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ผลที่รายงานบันทึกวันที่ 7 ตุลาคม 2569 ไม่ใช่การรันใหม่ในวันจัดทำสไลด์ policy เดิมผ่าน 52.5% และมี 4 กรณีเสนอเดินผิดเจตนาหรือจุดหมาย วิธี hybrid และ model เป็นหลักผ่านครบ 40 ในชุดนี้ แต่ชุดเดียวกันนี้ใช้พัฒนาด้วย จึงยังไม่ใช่ unseen evaluation และไม่รับประกันทุกประโยค ผลทั้งหมดเป็นข้อเสนอใน dry-run ไม่มีการส่งหุ่นเดิน</a:t>
            </a:r>
          </a:p>
          <a:p/>
          <a:p>
            <a:r>
              <a:t>หลักฐาน: baseline.json; hybrid.json; model.json — 7 October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บันทึก Backend ผ่าน 51 tests และ typecheck ของ Admin Kiosk Backend ผ่าน มีการตรวจ Kiosk กับ POI จริงแบบ dry-run 4 สำนวนและเลือก UUID เดียวกัน การส่งงานถึง MoveTo ทดสอบผ่าน adapter จำลอง ส่วนการอ่านแผนที่และ LiDAR เป็นข้อมูลจากฮาร์ดแวร์ในรอบก่อนหน้า ไม่มีผลตรวจถึงจุดหมาย หยุดจริง หรือกลับแท่นจริงจากผู้ช่วย</a:t>
            </a:r>
          </a:p>
          <a:p/>
          <a:p>
            <a:r>
              <a:t>หลักฐาน: PROGRESS.md; robotAi.test.ts; kioskHardwareAi.test.ts; check-kiosk-ai.mjs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ปัจจุบัน AI ทำงานบนพีซี Jetson เตรียมอุปกรณ์และโมเดลแล้วแต่ build พักและไม่มี benchmark บนอุปกรณ์ ระบบเสียงยังไม่เปิด บริบทถามกลับเช่นห้อง A หรือที่นั่นข้ามข้อความยังไม่ทำ โหมดสำรวจเป็น preference ฝั่งเว็บ ขั้นต่อไปควรเพิ่มการถามกลับแบบมีอายุ ทดสอบหลายข้อความ แล้วเชื่อมโหมดจริงและตรวจรับการเดินในพื้นที่ที่ผู้ใช้ควบคุม</a:t>
            </a:r>
          </a:p>
          <a:p/>
          <a:p>
            <a:r>
              <a:t>หลักฐาน: PROGRESS.md; SPEC.md; docs/jetson-ai.md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สรุปว่าโครงงานรวมเว็บผู้ดูแล จอผู้ช่วย ข้อมูลแผนที่ และ AI local โดยตรวจคำขอผ่าน Backend ก่อนสร้างงาน ผล regression ดีขึ้นในชุดที่ทดสอบ แต่ยังไม่ปิดงานตรวจรับหน้างาน เปิดให้กรรมการถามเรื่องสถาปัตยกรรม policy ความกำกวม ความเร็ว หรือ Jetson ใช้สไลด์สำรอง 17 และ 18 ประกอบคำตอบได้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ตอบคำถามเรื่องเวลา: hybrid ใช้กฎ 33 กรณีและโมเดล 7 กรณี จึง median ที่ปัดเป็น 0 ms หมายถึงต่ำกว่า 0.5 ms ส่วน p95 ประมาณ 4.684 วินาที วิธี model ใช้โมเดล 30 กรณีและกฎ 10 กรณี รอบนั้นมี Kiosk ร่วมช่วงต้น จึงมี queue ที่อาจกระทบเวลา ไม่ควรเปรียบเทียบประสิทธิภาพแบบควบคุมทุกตัวแปร ไม่ได้วัด RAM peak, TTFT, Jetson หรือการเดินจริง</a:t>
            </a:r>
          </a:p>
          <a:p/>
          <a:p>
            <a:r>
              <a:t>หลักฐาน: reports/ai-benchmark/{baseline,hybrid,model}.json; docs/benchmark-ai.md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แหล่งข้อมูลหลักคือโค้ดและหลักฐานของโครงการ รายงานรูปเล่มและ JSON benchmark สามารถเปิดตรวจรายกรณีได้ เอกสารผู้ผลิตและ model card ใช้เป็นแหล่งเทคโนโลยีประกอบ ไม่ใช้ชื่อบุคคลหรือผลการทดลองจากเล่มตัวอย่าง หากกรรมการต้องการผลการเดินจริงให้แจ้งว่ายังเป็นรายการรอตรวจรับ</a:t>
            </a:r>
          </a:p>
          <a:p/>
          <a:p>
            <a:r>
              <a:t>หลักฐาน: reports/project-documentation; PROGRESS.md; repository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PROJECT PRESENTATION · 12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ระบบหุ่นยนต์ผู้ช่วยและนำทางด้วย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01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955800"/>
            <a:ext cx="6477000" cy="200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67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67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BUTLER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4279900"/>
            <a:ext cx="6350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Web-based assistant · Hermes Pro Max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7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Local Qwen · ควบคุมผ่าน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5600700"/>
            <a:ext cx="7239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2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[กรอกชื่อผู้จัดทำ]  |  [กรอกอาจารย์ที่ปรึกษา]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74000" y="2032000"/>
            <a:ext cx="3530600" cy="10795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6400" y="2159000"/>
            <a:ext cx="32258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6400" y="2692400"/>
            <a:ext cx="32258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Admin + Visitor Kiosk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74000" y="3365500"/>
            <a:ext cx="3530600" cy="1079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6400" y="3492500"/>
            <a:ext cx="32258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6400" y="4025900"/>
            <a:ext cx="32258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สิทธิ์ · คำสั่ง · ข้อมูล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74000" y="4699000"/>
            <a:ext cx="3530600" cy="10795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6400" y="4826000"/>
            <a:ext cx="32258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ROBOT + LOCAL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6400" y="5359400"/>
            <a:ext cx="32258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ภาพรวมแนวคิดของระบบ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39300" y="3111500"/>
            <a:ext cx="0" cy="203200"/>
          </a:xfrm>
          <a:prstGeom prst="line">
            <a:avLst/>
          </a:prstGeom>
          <a:ln w="22860">
            <a:solidFill>
              <a:srgbClr val="AFC6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39300" y="4445000"/>
            <a:ext cx="0" cy="203200"/>
          </a:xfrm>
          <a:prstGeom prst="line">
            <a:avLst/>
          </a:prstGeom>
          <a:ln w="22860">
            <a:solidFill>
              <a:srgbClr val="AFC6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ปัญหาที่โครงงานต้องการแก้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02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68500"/>
            <a:ext cx="3454400" cy="3365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717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7305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ข้อมูลและจุดหมาย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94100"/>
            <a:ext cx="2997200" cy="154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ผู้มาเยือนต้องเลือก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จุดที่มีอยู่จริง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และใช้คำขอที่คุ้นเคย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800" y="1968500"/>
            <a:ext cx="3454400" cy="3365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400" y="21717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400" y="27305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การควบคุมร่วมกัน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400" y="3594100"/>
            <a:ext cx="2997200" cy="154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เจ้าหน้าที่ต้องเห็น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แผนที่ สถานะ และงาน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พร้อมสิทธิ์ที่ชัดเจน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0" y="1968500"/>
            <a:ext cx="3454400" cy="3365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600" y="21717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600" y="27305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ความหมายของภาษา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600" y="3594100"/>
            <a:ext cx="2997200" cy="154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คำถาม คำปฏิเสธ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และคำขอที่กำกวม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ต้องไม่ทำให้เดินผิด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แนวทาง: แยกการตีความภาษาออกจากการอนุมัติคำสั่งหุ่น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02 ·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เป้าหมาย: เว็บเดียวกันในระบบ สองกลุ่มผู้ใช้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03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17700"/>
            <a:ext cx="10972800" cy="838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500" y="2044700"/>
            <a:ext cx="711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7200" y="1993900"/>
            <a:ext cx="4254500" cy="622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8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เว็บควบคุม + เว็บผู้ช่วย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9500" y="2044700"/>
            <a:ext cx="51435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Admin และ Kiosk ใช้ Backend ร่วมกัน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2895600"/>
            <a:ext cx="10972800" cy="838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500" y="3022600"/>
            <a:ext cx="711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7200" y="2971800"/>
            <a:ext cx="4254500" cy="622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8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แผนที่และจุดหมาย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9500" y="3022600"/>
            <a:ext cx="51435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อ่าน SLAM / LiDAR และจัดการ POI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3873500"/>
            <a:ext cx="10972800" cy="838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500" y="4000500"/>
            <a:ext cx="711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7200" y="3949700"/>
            <a:ext cx="4254500" cy="622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8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คำขอภาษาธรรมชาติ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9500" y="4000500"/>
            <a:ext cx="51435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กฎภาษา + aliases + โมเดล local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4851400"/>
            <a:ext cx="10972800" cy="838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500" y="4978400"/>
            <a:ext cx="711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27200" y="4927600"/>
            <a:ext cx="4254500" cy="622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8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ตรวจผลก่อนเดิน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9500" y="4978400"/>
            <a:ext cx="51435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หุ่นจำลอง · dry-run · benchmark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03 ·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สถาปัตยกรรม: Backend เป็นตัวกลาง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04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146300"/>
            <a:ext cx="2844800" cy="1422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273300"/>
            <a:ext cx="254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ADMIN :3000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806700"/>
            <a:ext cx="2540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Session · ควบคุม / ดูงาน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4229100"/>
            <a:ext cx="2844800" cy="1422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4356100"/>
            <a:ext cx="254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KIOSK :3001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889500"/>
            <a:ext cx="2540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Proxy · device token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1200" y="2857500"/>
            <a:ext cx="3175000" cy="21717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3600" y="2984500"/>
            <a:ext cx="28702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BACKEND :4000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600" y="3517900"/>
            <a:ext cx="2870200" cy="140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Express + Socket.IO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ตรวจสิทธิ์และงาน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Prisma / adapter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500" y="1943100"/>
            <a:ext cx="2628900" cy="1117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5900" y="2070100"/>
            <a:ext cx="23241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5900" y="2603500"/>
            <a:ext cx="23241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ข้อมูลและบันทึก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3500" y="3302000"/>
            <a:ext cx="2628900" cy="1117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5900" y="3429000"/>
            <a:ext cx="23241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HERMES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5900" y="3962400"/>
            <a:ext cx="23241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แผนที่ / คำสั่ง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3500" y="4660900"/>
            <a:ext cx="2628900" cy="1117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5900" y="4787900"/>
            <a:ext cx="23241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LOCAL QWEN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5900" y="5321300"/>
            <a:ext cx="23241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llama-server :8080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54400" y="2857500"/>
            <a:ext cx="1041400" cy="571500"/>
          </a:xfrm>
          <a:prstGeom prst="line">
            <a:avLst/>
          </a:prstGeom>
          <a:ln w="22860">
            <a:solidFill>
              <a:srgbClr val="5266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454400" y="4343400"/>
            <a:ext cx="1041400" cy="596900"/>
          </a:xfrm>
          <a:prstGeom prst="line">
            <a:avLst/>
          </a:prstGeom>
          <a:ln w="22860">
            <a:solidFill>
              <a:srgbClr val="5266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696200" y="2501900"/>
            <a:ext cx="1231900" cy="800100"/>
          </a:xfrm>
          <a:prstGeom prst="line">
            <a:avLst/>
          </a:prstGeom>
          <a:ln w="22860">
            <a:solidFill>
              <a:srgbClr val="5266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696200" y="3860800"/>
            <a:ext cx="1231900" cy="63500"/>
          </a:xfrm>
          <a:prstGeom prst="line">
            <a:avLst/>
          </a:prstGeom>
          <a:ln w="22860">
            <a:solidFill>
              <a:srgbClr val="5266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96200" y="4584700"/>
            <a:ext cx="1231900" cy="635000"/>
          </a:xfrm>
          <a:prstGeom prst="line">
            <a:avLst/>
          </a:prstGeom>
          <a:ln w="22860">
            <a:solidFill>
              <a:srgbClr val="5266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04 · USERS &amp;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แยกประสบการณ์ของเจ้าหน้าที่กับผู้มาเยือน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05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43100"/>
            <a:ext cx="5308600" cy="3416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46300"/>
            <a:ext cx="485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ADMIN /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705100"/>
            <a:ext cx="48514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เว็บไซต์เจ้าหน้าที่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68700"/>
            <a:ext cx="48514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ดูแผนที่และสถานะ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ควบคุมหุ่นและจัดการ POI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ดูงาน ผู้ใช้ และบันทึก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3800" y="1943100"/>
            <a:ext cx="5308600" cy="3416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2400" y="2146300"/>
            <a:ext cx="485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VISITOR KIOSK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2400" y="2705100"/>
            <a:ext cx="48514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เว็บไซต์ผู้ช่วย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2400" y="3568700"/>
            <a:ext cx="48514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เลือกจุดหมายสาธารณะ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พิมพ์ถามและขอให้นำทาง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ยกเลิกงานของ Kiosk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viewer ดูข้อมูลได้ · Kiosk หยุดงานของเจ้าหน้าที่ไม่ได้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05 · MAP &amp; DESTINATIONS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แผนที่สดและ POI จากหุ่น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06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006600"/>
            <a:ext cx="5054600" cy="3530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7100" y="2286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58900" y="2286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90700" y="2286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22500" y="2286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4300" y="2286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86100" y="2286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7900" y="2286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49700" y="2286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1500" y="2286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13300" y="2286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7100" y="2667000"/>
            <a:ext cx="381000" cy="330200"/>
          </a:xfrm>
          <a:prstGeom prst="rect">
            <a:avLst/>
          </a:prstGeom>
          <a:solidFill>
            <a:srgbClr val="D8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58900" y="2667000"/>
            <a:ext cx="381000" cy="330200"/>
          </a:xfrm>
          <a:prstGeom prst="rect">
            <a:avLst/>
          </a:prstGeom>
          <a:solidFill>
            <a:srgbClr val="D8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90700" y="2667000"/>
            <a:ext cx="381000" cy="330200"/>
          </a:xfrm>
          <a:prstGeom prst="rect">
            <a:avLst/>
          </a:prstGeom>
          <a:solidFill>
            <a:srgbClr val="D8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22500" y="2667000"/>
            <a:ext cx="381000" cy="330200"/>
          </a:xfrm>
          <a:prstGeom prst="rect">
            <a:avLst/>
          </a:prstGeom>
          <a:solidFill>
            <a:srgbClr val="D8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54300" y="2667000"/>
            <a:ext cx="381000" cy="330200"/>
          </a:xfrm>
          <a:prstGeom prst="rect">
            <a:avLst/>
          </a:prstGeom>
          <a:solidFill>
            <a:srgbClr val="D8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86100" y="2667000"/>
            <a:ext cx="381000" cy="330200"/>
          </a:xfrm>
          <a:prstGeom prst="rect">
            <a:avLst/>
          </a:prstGeom>
          <a:solidFill>
            <a:srgbClr val="D8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17900" y="2667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49700" y="2667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1500" y="2667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13300" y="2667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7100" y="3048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58900" y="3048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90700" y="3048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22500" y="3048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54300" y="3048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86100" y="3048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17900" y="3048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49700" y="3048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1500" y="3048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13300" y="3048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7100" y="3429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358900" y="3429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790700" y="3429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22500" y="3429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54300" y="3429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086100" y="3429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17900" y="3429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49700" y="3429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81500" y="3429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13300" y="3429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7100" y="3810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358900" y="3810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790700" y="3810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22500" y="3810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54300" y="3810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086100" y="3810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517900" y="3810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49700" y="3810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81500" y="3810000"/>
            <a:ext cx="381000" cy="330200"/>
          </a:xfrm>
          <a:prstGeom prst="rect">
            <a:avLst/>
          </a:prstGeom>
          <a:solidFill>
            <a:srgbClr val="D8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13300" y="3810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7100" y="4191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358900" y="4191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790700" y="4191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222500" y="4191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54300" y="4191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086100" y="4191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517900" y="4191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949700" y="4191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81500" y="4191000"/>
            <a:ext cx="381000" cy="330200"/>
          </a:xfrm>
          <a:prstGeom prst="rect">
            <a:avLst/>
          </a:prstGeom>
          <a:solidFill>
            <a:srgbClr val="D8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813300" y="4191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7100" y="4572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358900" y="4572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790700" y="4572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222500" y="4572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654300" y="4572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086100" y="4572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17900" y="4572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949700" y="4572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381500" y="4572000"/>
            <a:ext cx="381000" cy="330200"/>
          </a:xfrm>
          <a:prstGeom prst="rect">
            <a:avLst/>
          </a:prstGeom>
          <a:solidFill>
            <a:srgbClr val="D8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813300" y="4572000"/>
            <a:ext cx="381000" cy="330200"/>
          </a:xfrm>
          <a:prstGeom prst="rect">
            <a:avLst/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790700" y="3810000"/>
            <a:ext cx="355600" cy="355600"/>
          </a:xfrm>
          <a:prstGeom prst="roundRect">
            <a:avLst>
              <a:gd name="adj" fmla="val 10000"/>
            </a:avLst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03400" y="3771900"/>
            <a:ext cx="3302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949700" y="3048000"/>
            <a:ext cx="800100" cy="342900"/>
          </a:xfrm>
          <a:prstGeom prst="roundRect">
            <a:avLst>
              <a:gd name="adj" fmla="val 10000"/>
            </a:avLst>
          </a:prstGeom>
          <a:solidFill>
            <a:srgbClr val="B95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75100" y="3048000"/>
            <a:ext cx="7493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20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POI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667000" y="4572000"/>
            <a:ext cx="800100" cy="342900"/>
          </a:xfrm>
          <a:prstGeom prst="roundRect">
            <a:avLst>
              <a:gd name="adj" fmla="val 10000"/>
            </a:avLst>
          </a:prstGeom>
          <a:solidFill>
            <a:srgbClr val="B95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692400" y="4572000"/>
            <a:ext cx="7493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20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DOCK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0900" y="5600700"/>
            <a:ext cx="4699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8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ภาพอธิบาย · ไม่ใช่แผนที่จริง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0300" y="2019300"/>
            <a:ext cx="51689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ข้อมูลบนเว็บ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10300" y="2743200"/>
            <a:ext cx="5168900" cy="149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แผนที่ / POI / LiDAR ประมาณ 1 วินาที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5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ตำแหน่งประมาณ 0.5 วินาที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5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HTTP fallback ประมาณ 2 วินาที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10300" y="4457700"/>
            <a:ext cx="5168900" cy="1155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เพิ่ม · แก้ไข · ลบ POI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5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ตรวจชื่อ พิกัด ทิศ และ aliases ด้วย readback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06 · ROBOT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ก่อนนำทาง ต้องผ่านข้อกำหนดของ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07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55800"/>
            <a:ext cx="34544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590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7178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ข้อมูลพร้อม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81400"/>
            <a:ext cx="29972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แผนที่อายุ ≤ 5 วินาที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ปิดโหมดสร้างแผนที่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คุณภาพตำแหน่ง ≥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800" y="1955800"/>
            <a:ext cx="34544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400" y="21590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400" y="27178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จุดหมายถูกต้อง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400" y="3581400"/>
            <a:ext cx="29972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ใช้รหัส POI ที่มีจริง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พิกัดอยู่ในแผนที่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อยู่ในเซลล์พื้นที่ว่าง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0" y="1955800"/>
            <a:ext cx="34544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600" y="21590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600" y="27178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สิทธิ์ไม่ขัดกัน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600" y="3581400"/>
            <a:ext cx="29972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ตรวจงานและ manual lock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มีคำสั่งหยุด / E-Stop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ไม่เริ่มเดินตอน startup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F9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B95A26"/>
                </a:solidFill>
                <a:latin typeface="TH Sarabun New"/>
                <a:ea typeface="TH Sarabun New"/>
                <a:cs typeface="TH Sarabun New"/>
              </a:defRPr>
            </a:pPr>
            <a:r>
              <a:t>เงื่อนไขซอฟต์แวร์ผ่าน ≠ ตรวจรับการเดินจริงผ่าน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07 · NATURAL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AI ใช้สองวิธีร่วมกัน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08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17700"/>
            <a:ext cx="5308600" cy="351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20900"/>
            <a:ext cx="485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METHOD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679700"/>
            <a:ext cx="48514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กฎ + ชื่อเรียกอื่น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43300"/>
            <a:ext cx="4851400" cy="170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“ช่วยพาไปหน้าประตูหน่อย”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“ไปส่งที่ทางเข้าได้ไหมครับ”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จับคำขอและ POI ที่ชัดเจน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3800" y="1917700"/>
            <a:ext cx="5308600" cy="351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2400" y="2120900"/>
            <a:ext cx="485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METHOD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2400" y="2679700"/>
            <a:ext cx="48514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โมเดลตีความความหมาย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2400" y="3543300"/>
            <a:ext cx="4851400" cy="170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“หน้าประตูคือจุดหมายของผม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คุณช่วยไปส่งผมที่นั่นได้ไหม”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คืน intent / POI / speechAct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ระบบใช้งาน: กฎก่อน → โมเดลเมื่อจำเป็น → Backend ตรวจอีกครั้ง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08 · COMMAND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AI เสนอคำสั่ง แต่ไม่ได้เลือกพิกัดอิสระ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09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489200"/>
            <a:ext cx="2438400" cy="1498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616200"/>
            <a:ext cx="21336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ข้อความผู้ใช้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149600"/>
            <a:ext cx="21336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ไทย / อังกฤษ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4400" y="2489200"/>
            <a:ext cx="2438400" cy="1498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6800" y="2616200"/>
            <a:ext cx="21336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จำแนกเจตนา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6800" y="3149600"/>
            <a:ext cx="21336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กฎ หรือโมเดล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9200" y="2489200"/>
            <a:ext cx="2438400" cy="14986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1600" y="2616200"/>
            <a:ext cx="21336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ตรวจคำขอ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1600" y="3149600"/>
            <a:ext cx="21336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Schema + POI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489200"/>
            <a:ext cx="2438400" cy="1498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6400" y="2616200"/>
            <a:ext cx="21336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สร้างงาน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6400" y="3149600"/>
            <a:ext cx="21336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อ่านพิกัดใหม่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48000" y="3213100"/>
            <a:ext cx="355600" cy="0"/>
          </a:xfrm>
          <a:prstGeom prst="line">
            <a:avLst/>
          </a:prstGeom>
          <a:ln w="22860">
            <a:solidFill>
              <a:srgbClr val="5266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92800" y="3213100"/>
            <a:ext cx="355600" cy="0"/>
          </a:xfrm>
          <a:prstGeom prst="line">
            <a:avLst/>
          </a:prstGeom>
          <a:ln w="22860">
            <a:solidFill>
              <a:srgbClr val="5266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37600" y="3213100"/>
            <a:ext cx="355600" cy="0"/>
          </a:xfrm>
          <a:prstGeom prst="line">
            <a:avLst/>
          </a:prstGeom>
          <a:ln w="22860">
            <a:solidFill>
              <a:srgbClr val="5266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89400" y="4457700"/>
            <a:ext cx="40513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3100" b="1" lang="th-TH">
                <a:solidFill>
                  <a:srgbClr val="B95A26"/>
                </a:solidFill>
                <a:latin typeface="TH Sarabun New"/>
                <a:ea typeface="TH Sarabun New"/>
                <a:cs typeface="TH Sarabun New"/>
              </a:defRPr>
            </a:pPr>
            <a:r>
              <a:t>ปฏิเสธ / ถามกลับ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6600" y="5080000"/>
            <a:ext cx="8191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ชื่อซ้ำ · ไม่พบชื่อ · คำปฏิเสธ · ข้อความยกมา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311900" y="4013200"/>
            <a:ext cx="1219200" cy="406400"/>
          </a:xfrm>
          <a:prstGeom prst="line">
            <a:avLst/>
          </a:prstGeom>
          <a:ln w="22860">
            <a:solidFill>
              <a:srgbClr val="B95A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09600" y="56642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400" y="57277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dry-run แสดงผลอย่างเดียว · คำหยุดที่รองรับไม่ต้องรอโมเดล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09 · INTENT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ประโยคคล้ายกัน อาจต้องทำคนละอย่าง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10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17700"/>
            <a:ext cx="10972800" cy="825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500" y="2070100"/>
            <a:ext cx="60579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ช่วยพาไปที่ห้องประชุมหน่อย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70100"/>
            <a:ext cx="34417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นำทางไป POI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2133600"/>
            <a:ext cx="10795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7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2882900"/>
            <a:ext cx="10972800" cy="825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500" y="3035300"/>
            <a:ext cx="60579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ห้องประชุมอยู่ที่ไหน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35300"/>
            <a:ext cx="34417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ตอบตำแหน่ง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3098800"/>
            <a:ext cx="10795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7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question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3848100"/>
            <a:ext cx="10972800" cy="825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500" y="4000500"/>
            <a:ext cx="60579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อย่าเพิ่งไปห้องประชุม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000500"/>
            <a:ext cx="34417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1" lang="th-TH">
                <a:solidFill>
                  <a:srgbClr val="B95A26"/>
                </a:solidFill>
                <a:latin typeface="TH Sarabun New"/>
                <a:ea typeface="TH Sarabun New"/>
                <a:cs typeface="TH Sarabun New"/>
              </a:defRPr>
            </a:pPr>
            <a:r>
              <a:t>ไม่ส่งคำสั่งเดิน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4064000"/>
            <a:ext cx="10795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7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negated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4813300"/>
            <a:ext cx="10972800" cy="825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500" y="4965700"/>
            <a:ext cx="60579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ช่วยพาไปห้องเล็กหน่อย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965700"/>
            <a:ext cx="34417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1" lang="th-TH">
                <a:solidFill>
                  <a:srgbClr val="B95A26"/>
                </a:solidFill>
                <a:latin typeface="TH Sarabun New"/>
                <a:ea typeface="TH Sarabun New"/>
                <a:cs typeface="TH Sarabun New"/>
              </a:defRPr>
            </a:pPr>
            <a:r>
              <a:t>ถามให้ระบุจุดเดียว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5029200"/>
            <a:ext cx="10795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7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ambiguous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10 · OPERATING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โหมดปกติ / โหมดสำรวจ: ตั้งค่าได้ขณะออฟไลน์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11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43100"/>
            <a:ext cx="5308600" cy="345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46300"/>
            <a:ext cx="485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705100"/>
            <a:ext cx="48514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โหมดปกติ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68700"/>
            <a:ext cx="4851400" cy="163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ใช้แผนที่และ POI เดิม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สำหรับการนำทาง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เลือกและจำตัวเลือกบนเว็บได้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3800" y="1943100"/>
            <a:ext cx="5308600" cy="345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2400" y="2146300"/>
            <a:ext cx="485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B95A26"/>
                </a:solidFill>
                <a:latin typeface="TH Sarabun New"/>
                <a:ea typeface="TH Sarabun New"/>
                <a:cs typeface="TH Sarabun New"/>
              </a:defRPr>
            </a:pPr>
            <a:r>
              <a:t>EXPLORATION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2400" y="2705100"/>
            <a:ext cx="48514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โหมดสำรวจ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2400" y="3568700"/>
            <a:ext cx="4851400" cy="163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เตรียมสำรวจและสร้างแผนที่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ยังไม่เปิด mapping บนหุ่น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การเชื่อมโหมดจริงเป็นงานถัดไป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F9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B95A26"/>
                </a:solidFill>
                <a:latin typeface="TH Sarabun New"/>
                <a:ea typeface="TH Sarabun New"/>
                <a:cs typeface="TH Sarabun New"/>
              </a:defRPr>
            </a:pPr>
            <a:r>
              <a:t>สถานะปัจจุบัน: เลือกโหมดบนเว็บ ≠ เปลี่ยนโหมดบนหุ่น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11 · EVALUATION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ออกแบบ benchmark ให้ทดสอบโดยไม่เดิน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12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81200"/>
            <a:ext cx="3454400" cy="1854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33600"/>
            <a:ext cx="2997200" cy="1003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67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289300"/>
            <a:ext cx="29972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6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ข้อความทดสอบ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800" y="1981200"/>
            <a:ext cx="3454400" cy="1854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7400" y="2133600"/>
            <a:ext cx="2997200" cy="1003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67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400" y="3289300"/>
            <a:ext cx="29972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6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POI จำลอง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0" y="1981200"/>
            <a:ext cx="3454400" cy="1854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6600" y="2133600"/>
            <a:ext cx="2997200" cy="1003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67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6600" y="3289300"/>
            <a:ext cx="29972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6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วิธีที่เปรียบเทียบ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140200"/>
            <a:ext cx="2159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ครอบคลุม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7500" y="4178300"/>
            <a:ext cx="8724900" cy="1003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คำขอสุภาพ · aliases · ประโยคอ้อม · กลับแท่น · หยุด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5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คำถาม · คำปฏิเสธ · ชื่อกำกวม · จุดส่วนตัว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หุ่นจำลอง + memory + dry-run · ตรวจว่าไม่มี job ถูกสร้าง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12 · 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ผล regression: จาก 21/40 เป็น 40/40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044700"/>
            <a:ext cx="27305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ก่อนปรับ</a:t>
            </a:r>
          </a:p>
        </p:txBody>
      </p:sp>
      <p:sp>
        <p:nvSpPr>
          <p:cNvPr id="8" name="Rectangle 7"/>
          <p:cNvSpPr/>
          <p:nvPr/>
        </p:nvSpPr>
        <p:spPr>
          <a:xfrm>
            <a:off x="3517900" y="2095500"/>
            <a:ext cx="5638800" cy="342900"/>
          </a:xfrm>
          <a:prstGeom prst="rect">
            <a:avLst/>
          </a:prstGeom>
          <a:solidFill>
            <a:srgbClr val="ED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17900" y="2095500"/>
            <a:ext cx="2960370" cy="342900"/>
          </a:xfrm>
          <a:prstGeom prst="rect">
            <a:avLst/>
          </a:prstGeom>
          <a:solidFill>
            <a:srgbClr val="9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23400" y="2006600"/>
            <a:ext cx="20955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5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52.5%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060700"/>
            <a:ext cx="27305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กฎ + โมเดล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7900" y="3111500"/>
            <a:ext cx="5638800" cy="342900"/>
          </a:xfrm>
          <a:prstGeom prst="rect">
            <a:avLst/>
          </a:prstGeom>
          <a:solidFill>
            <a:srgbClr val="ED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7900" y="3111500"/>
            <a:ext cx="5638800" cy="3429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3400" y="3022600"/>
            <a:ext cx="20955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076700"/>
            <a:ext cx="27305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โมเดล + กฎป้องกัน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17900" y="4127500"/>
            <a:ext cx="5638800" cy="342900"/>
          </a:xfrm>
          <a:prstGeom prst="rect">
            <a:avLst/>
          </a:prstGeom>
          <a:solidFill>
            <a:srgbClr val="ED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17900" y="4127500"/>
            <a:ext cx="5638800" cy="3429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23400" y="4038600"/>
            <a:ext cx="20955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100%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5168900"/>
            <a:ext cx="10972800" cy="8255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" y="5270500"/>
            <a:ext cx="6019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เสนอเดินผิดเจตนา/จุดหมายในชุดนี้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2300" y="5181600"/>
            <a:ext cx="31115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38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4 → 0 กรณี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4686300"/>
            <a:ext cx="109728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8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PC · dry-run · ชุดที่ใช้พัฒนา ไม่ใช่ unseen test หรือผลการเดินจริง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หลักฐานที่ตรวจแล้ว และขอบเขตของผล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14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55800"/>
            <a:ext cx="34544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590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51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7178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81400"/>
            <a:ext cx="29972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สิทธิ์และงาน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POI / schema / ยกเลิก AI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ทดสอบกับ adapter จำลอง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800" y="1955800"/>
            <a:ext cx="34544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400" y="21590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TYPECHECK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400" y="27178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สามส่วนหลัก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400" y="3581400"/>
            <a:ext cx="29972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Admin · Kiosk · Backend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ผ่านตามบันทึกโครงการ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ไม่ใช่ผลตรวจฮาร์ดแวร์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0" y="1955800"/>
            <a:ext cx="34544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600" y="21590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KIOSK DRY-RUN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600" y="27178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POI จริง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600" y="3581400"/>
            <a:ext cx="29972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คำขอ 4 สำนวน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เลือก UUID เดียวกัน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โดยไม่สร้างงานเดิน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ผลอ่านฮาร์ดแวร์เป็นหลักฐานรอบก่อน · รอบจัดทำสไลด์หุ่นไม่ได้เชื่อมต่อ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14 · LIMITATIONS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ข้อจำกัดปัจจุบัน และงานที่ควรทำต่อ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15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17700"/>
            <a:ext cx="5308600" cy="34417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044700"/>
            <a:ext cx="50038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B95A26"/>
                </a:solidFill>
                <a:latin typeface="TH Sarabun New"/>
                <a:ea typeface="TH Sarabun New"/>
                <a:cs typeface="TH Sarabun New"/>
              </a:defRPr>
            </a:pPr>
            <a:r>
              <a:t>ยังไม่มีผลยืนยัน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578100"/>
            <a:ext cx="5003800" cy="267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• การเดินถึง POI / หยุด / กลับแท่นจริง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• benchmark และระบบเสียงบน Jetson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• ความแม่นยำกับประโยคใหม่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• โหมดสำรวจจริงผ่าน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3800" y="1917700"/>
            <a:ext cx="5308600" cy="34417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6200" y="2044700"/>
            <a:ext cx="50038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ลำดับงานถัดไป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6200" y="2578100"/>
            <a:ext cx="5003800" cy="267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1. บริบทถามกลับ + benchmark หลายข้อความ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2. เชื่อมโหมดจริงและอ่านกลับยืนยัน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3. ตรวจรับการเดินกับผู้ควบคุม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4. วัด Jetson / STT / TTS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F9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B95A26"/>
                </a:solidFill>
                <a:latin typeface="TH Sarabun New"/>
                <a:ea typeface="TH Sarabun New"/>
                <a:cs typeface="TH Sarabun New"/>
              </a:defRPr>
            </a:pPr>
            <a:r>
              <a:t>AI local บน PC ทำแล้ว · Jetson และเสียงยังไม่พร้อมใช้งานหน้างาน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15 · SUMMARY /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เว็บ + ข้อมูลจริง + AI ที่ผ่านการตรวจคำขอ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16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2146300"/>
            <a:ext cx="10541000" cy="132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43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แยกผู้ใช้  ·  ใช้ POI ที่มีจริง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43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ตรวจสิทธิ์และสถานะก่อนส่งงาน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3835400"/>
            <a:ext cx="105410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กฎ + โมเดล: ผ่าน 40/40 ในชุด regression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0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ขั้นถัดไป: บริบทสนทนาและตรวจรับฮาร์ดแวร์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5359400"/>
            <a:ext cx="6731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5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ขอบคุณครับ / ค่ะ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800" y="5219700"/>
            <a:ext cx="2032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4500" b="1" lang="th-TH">
                <a:solidFill>
                  <a:srgbClr val="72D3C5"/>
                </a:solidFill>
                <a:latin typeface="TH Sarabun New"/>
                <a:ea typeface="TH Sarabun New"/>
                <a:cs typeface="TH Sarabun New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BACKUP A · BENCHMARK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ข้อมูลสำรอง: ความหน่วงและข้อจำกัดการวัด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17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81200"/>
            <a:ext cx="10972800" cy="647700"/>
          </a:xfrm>
          <a:prstGeom prst="roundRect">
            <a:avLst>
              <a:gd name="adj" fmla="val 10000"/>
            </a:avLst>
          </a:prstGeom>
          <a:solidFill>
            <a:srgbClr val="142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700" y="2082800"/>
            <a:ext cx="36830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วิธี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5500" y="2082800"/>
            <a:ext cx="20828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Median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6900" y="2082800"/>
            <a:ext cx="21717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p95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2082800"/>
            <a:ext cx="1993900" cy="46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ใช้โมเดล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2641600"/>
            <a:ext cx="109728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2768600"/>
            <a:ext cx="368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ก่อนปรับ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5500" y="2768600"/>
            <a:ext cx="208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2.986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900" y="2768600"/>
            <a:ext cx="2171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6.120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768600"/>
            <a:ext cx="199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ไม่บันทึก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3365500"/>
            <a:ext cx="10972800" cy="685800"/>
          </a:xfrm>
          <a:prstGeom prst="rect">
            <a:avLst/>
          </a:prstGeom>
          <a:solidFill>
            <a:srgbClr val="E4F1E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700" y="3492500"/>
            <a:ext cx="368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กฎ + โมเดล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5500" y="3492500"/>
            <a:ext cx="208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&lt; 1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6900" y="3492500"/>
            <a:ext cx="2171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4.684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492500"/>
            <a:ext cx="199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7/40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4089400"/>
            <a:ext cx="109728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700" y="4216400"/>
            <a:ext cx="368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โมเดล + กฎป้องกัน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5500" y="4216400"/>
            <a:ext cx="208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4.487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6900" y="4216400"/>
            <a:ext cx="2171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7.264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4216400"/>
            <a:ext cx="199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30/40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5041900"/>
            <a:ext cx="109728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PC: i7-10700F · RAM รวม 63.9 GiB · Qwen3.5-2B Q5_K_M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5537200"/>
            <a:ext cx="109728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000" b="0" lang="th-TH">
                <a:solidFill>
                  <a:srgbClr val="B95A26"/>
                </a:solidFill>
                <a:latin typeface="TH Sarabun New"/>
                <a:ea typeface="TH Sarabun New"/>
                <a:cs typeface="TH Sarabun New"/>
              </a:defRPr>
            </a:pPr>
            <a:r>
              <a:t>Regression ที่ใช้พัฒนา · cache อาจอุ่น · รอบ model มี Kiosk ร่วมช่วงต้น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BACKUP B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ข้อมูลสำรอง: เอกสารและไฟล์อ้างอิง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PROJECT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955800"/>
            <a:ext cx="52959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หลักฐานในโปรเจ็กต์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17800"/>
            <a:ext cx="5422900" cy="2197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SPEC.md / PROGRESS.md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reports/ai-benchmark/*.json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benchmarks/robot-ai/cases.json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apps/backend/src/services/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reports/project-documentation/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8100" y="1955800"/>
            <a:ext cx="51943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0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เอกสารเทคโนโลยี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8100" y="2717800"/>
            <a:ext cx="5194300" cy="2197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3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SLAMTEC REST / Swagger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3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docs.slamtec.com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3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Qwen3.5-2B model card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3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huggingface.co/Qwen/Qwen3.5-2B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3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llama.cpp server README · b10545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เนื้อหา ณ 12 ต.ค. 2569 · benchmark อ้างผลวันที่ 7 ต.ค. 2569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Robot Butler — Project Presentation</dc:title>
  <dc:subject/>
  <dc:creator>[กรอกชื่อผู้จัดทำ]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