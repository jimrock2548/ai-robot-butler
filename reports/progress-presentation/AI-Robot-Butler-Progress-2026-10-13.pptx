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แนะนำชื่อโครงงานและผู้จัดทำ รายงานครั้งนี้สรุปสถานะ ณ 13 ตุลาคม 2569 โดยใช้หลักฐานทดสอบเดิม เน้นความคืบหน้าซอฟต์แวร์ AI local และ Mock Test ที่เพิ่มล่าสุด ตอนนี้ยังไม่มีผลตรวจรับการเคลื่อนที่จริงจากผู้ช่วย เป้าหมายของการนำเสนอคือแยกสิ่งที่ทำแล้วออกจากสิ่งที่ต้องตรวจต่อ ไม่ประเมินเปอร์เซ็นต์รวมโดยไม่มีเกณฑ์ถ่วงน้ำหนัก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ระบบเว็บและฐานข้อมูลมีโค้ดและหลักฐานทดสอบแล้ว AI วิธีหนึ่งและสองพร้อม benchmark ใช้บน PC ได้ ส่วนงานควบคุมหุ่นมีเส้นทางรองรับแต่ต้องตรวจพฤติกรรมจริง การเลือกโหมดสำรวจยังเป็น preference ฝั่งเว็บ Jetson ระบบเสียง และบริบทถามกลับยังไม่พร้อมใช้งาน เราจึงไม่สรุปว่าโครงการเสร็จสำหรับหน้างานทั้งหมด</a:t>
            </a:r>
          </a:p>
          <a:p/>
          <a:p>
            <a:r>
              <a:t>หลักฐาน: PROGRESS.md; docs/mock-robot.md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วันที่ 7 ตุลาคมขยายภาษา AI และเก็บผล benchmark วันที่ 11 เพิ่มตัวเลือกโหมดปกติ/สำรวจแบบออฟไลน์ วันที่ 12 จัดรูปเล่ม สไลด์ และเพิ่ม Mock Test แบบเชื่อมต่อหุ่น ผลทดสอบ backend หลังเพิ่ม mock ผ่าน 52 รายการ รายงานวันนี้จัดทำสไลด์ความคืบหน้า ไม่ได้ทดลองหุ่นหรือโมเดลใหม่</a:t>
            </a:r>
          </a:p>
          <a:p/>
          <a:p>
            <a:r>
              <a:t>หลักฐาน: PROGRESS.md; reports/ai-benchmark/hybrid.json; reports/presentation/validation.json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และ Kiosk เรียก Backend กลาง Backend ตรวจสิทธิ์และงานก่อนเลือก adapter ของหุ่น ตอนนี้มีสามทาง: RobotSim เดิม หุ่น Hermes จริง และ MockHermesClient ที่เลียนแบบการเชื่อมต่อ โดย mock บังคับใช้ memory และไม่เรียก API ฮาร์ดแวร์จริง โมเดล local ยังเป็น Qwen จริงบนพีซีหากเปิดบริการ</a:t>
            </a:r>
          </a:p>
          <a:p/>
          <a:p>
            <a:r>
              <a:t>หลักฐาน: config.ts; driver.ts; mockHermesClient.ts; chatService.ts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เว็บผู้ดูแลและผู้ช่วยแยกกัน มีบทบาทผู้ใช้และ token ของ Kiosk ด้านแผนที่แสดงกริด หุ่น แท่น LiDAR และ POI ได้ รวมซูมและลาก ส่วน POI เพิ่ม แก้ ลบ และชื่อเรียกอื่นได้ มีการอ่านกลับยืนยัน แต่การตรวจ CRUD ทุกกรณีบนหุ่นจริงยังไม่ครบ หลักฐานอ่านข้อมูลจริงเป็นของรอบก่อน ไม่ใช่การเชื่อมต่อในขณะนำเสนอ</a:t>
            </a:r>
          </a:p>
          <a:p/>
          <a:p>
            <a:r>
              <a:t>หลักฐาน: LiveRobotMap.tsx; RobotMapEditor.tsx; PROGRESS.md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Mock Test เป็นความคืบหน้าใหม่ที่ช่วยพัฒนาต่อเมื่อไม่อยู่ใกล้หุ่น มี telemetry สด แผนที่กริด LiDAR 360 จุด home และ POI 4 จุด ใช้ UI เส้นทางแผนที่สดเดียวกับตอนต่อ Hermes ทุกหน้ามีป้ายข้อมูลจำลองที่เกี่ยวข้อง รองรับงานนำทางและควบคุมจำลอง ไม่จำลอง SLAM หรือการหลบสิ่งกีดขวางอย่างครบถ้วน</a:t>
            </a:r>
          </a:p>
          <a:p/>
          <a:p>
            <a:r>
              <a:t>หลักฐาน: mockHermesClient.ts; mockConnected.test.ts; docs/mock-robot.md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วิธีที่หนึ่งขยายกฎประโยคและชื่อเรียกอื่น วิธีที่สองใช้โมเดลตีความประโยคอ้อมเป็น JSON โดยเลือกรหัสจากรายการจริง ทั้งสองทำแล้วบน PC ส่วนวิธีที่สามคือจำคำถามที่ค้าง เช่น ห้อง A หรือ B แล้วนำคำตอบห้อง A ไปเชื่อมกับคำขอเดิม ตอนนี้มีข้อความถามกลับ แต่ยังไม่มีสถานะบทสนทนาเพื่อสร้างงานจากคำตอบต่อเนื่อง</a:t>
            </a:r>
          </a:p>
          <a:p/>
          <a:p>
            <a:r>
              <a:t>หลักฐาน: robotLanguage.ts; robotIntent.ts; robotAiService.ts; PROGRESS.md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ชุด regression 40 กรณีที่ใช้พัฒนาผ่านเพิ่มจาก 21 เป็น 40 สำหรับ hybrid และ model เป็นหลัก ตัวชี้วัดเสนอเดินผิดเจตนา/จุดหมายลดจาก 4 เป็น 0 ในชุดนี้ ผลทั้งหมดบันทึกวันที่ 7 ตุลาคม ใช้ dry-run บน PC ไม่มีการเดินจริง และยังไม่ใช่ unseen evaluation หรือการรับประกันทุกประโยค</a:t>
            </a:r>
          </a:p>
          <a:p/>
          <a:p>
            <a:r>
              <a:t>หลักฐาน: reports/ai-benchmark/{baseline,hybrid,model}.json — 7 October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หลังเพิ่ม Mock Test มี backend tests ผ่าน 52 รายการและ typecheck สามแอปผ่าน รวมการตรวจที่บังคับ memory แม้ตั้ง DB_MODE เป็น pg และดัก fetch เพื่อยืนยันว่าไม่เรียกเครือข่ายหุ่น smoke test ของระบบที่เปิดอยู่ตรวจแผนที่ Kiosk AI dry-run และเคลื่อนที่จำลองแล้ว ข้อมูลนี้เป็นผลเดิมล่าสุด ไม่ได้รันใหม่ขณะทำสไลด์วันนี้</a:t>
            </a:r>
          </a:p>
          <a:p/>
          <a:p>
            <a:r>
              <a:t>หลักฐาน: PROGRESS.md; mockConnected.test.ts; check-robot-mock.mjs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ผู้ควบคุมเลือกโหมดปกติหรือสำรวจได้แม้ออฟไลน์และจำตัวเลือกในเบราว์เซอร์ แต่การกดเลือกไม่ได้เปลี่ยน mappingEnabled ของหุ่น งานที่ยังค้างคือเชื่อม requested mode กับสถานะที่อุปกรณ์อ่านกลับยืนยัน ไม่เริ่มเดินหรือสำรวจอัตโนมัติเมื่อเชื่อมต่อใหม่ ในห้องแลปควรเริ่มตรวจแบบผู้ใช้บังคับเดินสร้างแผนที่ก่อนอัตโนมัติ</a:t>
            </a:r>
          </a:p>
          <a:p/>
          <a:p>
            <a:r>
              <a:t>หลักฐาน: RobotOperatingMode.tsx; PROGRESS.md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จัดรูปเล่มฉบับร่างหกบท Word และ PDF 38 หน้า มีแผนภาพสี่ภาพและตารางสิบห้าตาราง สไลด์ภาพรวมโครงการเดิมมีสิบแปดหน้าและโน้ตช่วยพูดครบ ส่วนชุดนี้เป็นรายงานความคืบหน้าเฉพาะรอบล่าสุด เอกสารยังต้องเติมชื่อบุคคล สถาบันและผลตรวจรับที่ยังไม่มี ไม่มีการแต่งผลทดลองฮาร์ดแวร์มาเติม</a:t>
            </a:r>
          </a:p>
          <a:p/>
          <a:p>
            <a:r>
              <a:t>หลักฐาน: reports/project-documentation/validation.json; reports/presentation/validation.json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แผนนี้เป็นลำดับที่เสนอ ไม่ใช่กำหนดวันหรือการอนุมัติให้เริ่มงานใหม่ หนึ่งเพิ่มบริบทถามกลับและ benchmark หลายข้อความ สองเชื่อมโหมดจริงและอ่านกลับยืนยัน สามตรวจรับการเดินและพฤติกรรมเครือข่ายในพื้นที่ที่ผู้ใช้ควบคุม สี่กลับไปทำ build และวัดโมเดล/เสียงบน Jetson ซึ่งพักตามคำขอ ยังไม่มีผล benchmark Jetson</a:t>
            </a:r>
          </a:p>
          <a:p/>
          <a:p>
            <a:r>
              <a:t>หลักฐาน: PROGRESS.md; SPEC.md; docs/jetson-ai.md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หากจะสาธิตใช้ Mock Test และตรวจป้ายก่อน แสดงหน้า Control ที่มีแผนที่ LiDAR และ POI แล้วเปิด Kiosk สั่งไป POI จำลองดูตำแหน่งและงานเปลี่ยน ทดลองหยุดหรือกลับแท่นเฉพาะตัวจำลอง เส้นทางเดโมในสไลด์เป็นขั้นตอนแนะนำ ไม่มีการเปิดบริการใหม่หรือส่งคำสั่งใดระหว่างสร้างสไลด์ การจำลองไม่ใช่การหลบสิ่งกีดขวางหรือ SLAM จริง</a:t>
            </a:r>
          </a:p>
          <a:p/>
          <a:p>
            <a:r>
              <a:t>หลักฐาน: docs/mock-robot.md; scripts/start-robot-mock.ps1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สรุปว่าซอฟต์แวร์เว็บ AI local และ Mock Test มีหลักฐานตรวจแล้ว ทำให้พัฒนาต่อได้ตอนอุปกรณ์ไม่พร้อม ความเสี่ยงที่ยังต้องคลี่คลายคือการเดินจริง โหมดสำรวจจริงและการรันบน Jetson ถามกรรมการว่าควรให้ความสำคัญกับบริบทสนทนาหรือการตรวจรับอุปกรณ์ในรอบถัดไป และแจ้งว่าเปอร์เซ็นต์ benchmark ไม่ใช่เปอร์เซ็นต์โครงการเสร็จ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PROGRESS REPORT · 13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รายงานความคืบหน้าโครงงาน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PROGRESS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01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006600"/>
            <a:ext cx="6350000" cy="198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6500" b="1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6500" b="1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BUTLER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4292600"/>
            <a:ext cx="7112000" cy="939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0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เว็บพร้อม · AI local ทำแล้ว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900" b="0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Mock Test เพิ่มแล้ว · หุ่นจริงรอตรวจรับ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5600700"/>
            <a:ext cx="850900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200" b="0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[กรอกชื่อผู้จัดทำ]  |  [กรอกอาจารย์ที่ปรึกษา]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42300" y="1993900"/>
            <a:ext cx="3175000" cy="1104900"/>
          </a:xfrm>
          <a:prstGeom prst="roundRect">
            <a:avLst>
              <a:gd name="adj" fmla="val 10000"/>
            </a:avLst>
          </a:prstGeom>
          <a:solidFill>
            <a:srgbClr val="E4F1E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700" y="2120900"/>
            <a:ext cx="28702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700" y="2654300"/>
            <a:ext cx="2870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Admin + Kiosk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2300" y="3314700"/>
            <a:ext cx="3175000" cy="1104900"/>
          </a:xfrm>
          <a:prstGeom prst="roundRect">
            <a:avLst>
              <a:gd name="adj" fmla="val 10000"/>
            </a:avLst>
          </a:prstGeom>
          <a:solidFill>
            <a:srgbClr val="E4F1E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700" y="3441700"/>
            <a:ext cx="28702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AI 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700" y="3975100"/>
            <a:ext cx="2870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กฎ + โมเดลบน PC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2300" y="4635500"/>
            <a:ext cx="3175000" cy="1104900"/>
          </a:xfrm>
          <a:prstGeom prst="roundRect">
            <a:avLst>
              <a:gd name="adj" fmla="val 10000"/>
            </a:avLst>
          </a:prstGeom>
          <a:solidFill>
            <a:srgbClr val="E4F1E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700" y="4762500"/>
            <a:ext cx="28702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MOCK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700" y="5295900"/>
            <a:ext cx="2870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จำลองว่าต่อหุ่นได้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01 · OVERALL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ภาพรวม: ซอฟต์แวร์ทำแล้ว แต่ยังรอตรวจรับหน้างาน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PROGRESS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02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43100"/>
            <a:ext cx="3454400" cy="3416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146300"/>
            <a:ext cx="299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ทำแล้ว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705100"/>
            <a:ext cx="29972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เว็บ + AI + Mock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568700"/>
            <a:ext cx="29972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Admin / Kiosk / Backend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ฐานข้อมูลและระบบสิทธิ์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AI วิธี 1–2 / Mock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800" y="1943100"/>
            <a:ext cx="3454400" cy="3416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400" y="2146300"/>
            <a:ext cx="299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B95A26"/>
                </a:solidFill>
                <a:latin typeface="TH Sarabun New"/>
                <a:ea typeface="TH Sarabun New"/>
                <a:cs typeface="TH Sarabun New"/>
              </a:defRPr>
            </a:pPr>
            <a:r>
              <a:t>รอตรวจรับ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400" y="2705100"/>
            <a:ext cx="29972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หุ่นจริง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400" y="3568700"/>
            <a:ext cx="29972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เดินถึง POI / กลับแท่น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หยุดจริงและเครือข่ายหลุด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POI CRUD บนเครื่องจริง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0" y="1943100"/>
            <a:ext cx="3454400" cy="3416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600" y="2146300"/>
            <a:ext cx="299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B95A26"/>
                </a:solidFill>
                <a:latin typeface="TH Sarabun New"/>
                <a:ea typeface="TH Sarabun New"/>
                <a:cs typeface="TH Sarabun New"/>
              </a:defRPr>
            </a:pPr>
            <a:r>
              <a:t>งานถัดไป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600" y="2705100"/>
            <a:ext cx="29972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บริบท + อุปกรณ์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600" y="3568700"/>
            <a:ext cx="29972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AI วิธีที่ 3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โหมดสำรวจจริง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Jetson และ STT/TTS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" y="5499100"/>
            <a:ext cx="10972800" cy="495300"/>
          </a:xfrm>
          <a:prstGeom prst="roundRect">
            <a:avLst>
              <a:gd name="adj" fmla="val 10000"/>
            </a:avLst>
          </a:prstGeom>
          <a:solidFill>
            <a:srgbClr val="F9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400" y="5562600"/>
            <a:ext cx="1061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1" lang="th-TH">
                <a:solidFill>
                  <a:srgbClr val="B95A26"/>
                </a:solidFill>
                <a:latin typeface="TH Sarabun New"/>
                <a:ea typeface="TH Sarabun New"/>
                <a:cs typeface="TH Sarabun New"/>
              </a:defRPr>
            </a:pPr>
            <a:r>
              <a:t>ทำได้ในโค้ด / Mock Test ≠ ยืนยันพฤติกรรมของหุ่นจริงแล้ว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02 · RECENT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สิ่งที่เพิ่มในรอบล่าสุด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PROGRESS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03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17700"/>
            <a:ext cx="10972800" cy="838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800" y="2044700"/>
            <a:ext cx="16129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7 ต.ค.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2400" y="2057400"/>
            <a:ext cx="8636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7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AI หลายสำนวน + aliases + benchmark 40 กรณี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2895600"/>
            <a:ext cx="10972800" cy="838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2800" y="3022600"/>
            <a:ext cx="16129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11 ต.ค.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2400" y="3035300"/>
            <a:ext cx="8636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7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เลือกโหมดปกติ / สำรวจบนเว็บตอนออฟไลน์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3873500"/>
            <a:ext cx="10972800" cy="838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4000500"/>
            <a:ext cx="16129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12 ต.ค.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2400" y="4013200"/>
            <a:ext cx="8636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7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รูปเล่มและสไลด์ฉบับร่าง พร้อมโน้ตช่วยพูด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" y="4851400"/>
            <a:ext cx="10972800" cy="838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800" y="4978400"/>
            <a:ext cx="16129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12 ต.ค.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2400" y="4991100"/>
            <a:ext cx="8636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7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Mock Test: แผนที่สด LiDAR POI และนำทางจำลอง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03 · SYSTEM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โครงสร้างระบบที่พัฒนาแล้ว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PROGRESS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04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171700"/>
            <a:ext cx="2806700" cy="1295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2298700"/>
            <a:ext cx="25019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832100"/>
            <a:ext cx="25019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สถานะ / แผนที่ / ควบคุม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4229100"/>
            <a:ext cx="2806700" cy="1295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4356100"/>
            <a:ext cx="25019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KIOSK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889500"/>
            <a:ext cx="25019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จุดหมาย / คำขอ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5000" y="2844800"/>
            <a:ext cx="3289300" cy="2171700"/>
          </a:xfrm>
          <a:prstGeom prst="roundRect">
            <a:avLst>
              <a:gd name="adj" fmla="val 10000"/>
            </a:avLst>
          </a:prstGeom>
          <a:solidFill>
            <a:srgbClr val="E4F1E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7400" y="2971800"/>
            <a:ext cx="29845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400" y="3505200"/>
            <a:ext cx="2984500" cy="140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สิทธิ์ · งาน · บันทึก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แผนที่ · กฎนำทาง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แยกข้อมูลจริง / จำลอง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8900" y="1943100"/>
            <a:ext cx="2603500" cy="1117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1300" y="2070100"/>
            <a:ext cx="22987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HERMES จริง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2603500"/>
            <a:ext cx="22987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อ่านจริงเคยผ่าน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8900" y="3302000"/>
            <a:ext cx="2603500" cy="1117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1300" y="3429000"/>
            <a:ext cx="22987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MOCK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1300" y="3962400"/>
            <a:ext cx="22987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Adapter local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8900" y="4660900"/>
            <a:ext cx="2603500" cy="1117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1300" y="4787900"/>
            <a:ext cx="22987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QWEN บน PC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1300" y="5321300"/>
            <a:ext cx="22987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Structured intent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416300" y="2781300"/>
            <a:ext cx="1003300" cy="635000"/>
          </a:xfrm>
          <a:prstGeom prst="line">
            <a:avLst/>
          </a:prstGeom>
          <a:ln w="22860">
            <a:solidFill>
              <a:srgbClr val="5266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416300" y="4368800"/>
            <a:ext cx="1003300" cy="482600"/>
          </a:xfrm>
          <a:prstGeom prst="line">
            <a:avLst/>
          </a:prstGeom>
          <a:ln w="22860">
            <a:solidFill>
              <a:srgbClr val="5266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734300" y="2501900"/>
            <a:ext cx="1219200" cy="800100"/>
          </a:xfrm>
          <a:prstGeom prst="line">
            <a:avLst/>
          </a:prstGeom>
          <a:ln w="22860">
            <a:solidFill>
              <a:srgbClr val="5266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734300" y="3860800"/>
            <a:ext cx="1219200" cy="63500"/>
          </a:xfrm>
          <a:prstGeom prst="line">
            <a:avLst/>
          </a:prstGeom>
          <a:ln w="22860">
            <a:solidFill>
              <a:srgbClr val="5266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734300" y="4597400"/>
            <a:ext cx="1219200" cy="622300"/>
          </a:xfrm>
          <a:prstGeom prst="line">
            <a:avLst/>
          </a:prstGeom>
          <a:ln w="22860">
            <a:solidFill>
              <a:srgbClr val="5266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04 · WEB &amp;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เว็บ แผนที่ และการจัดการจุดหมาย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PROGRESS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05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55800"/>
            <a:ext cx="3454400" cy="3390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159000"/>
            <a:ext cx="299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717800"/>
            <a:ext cx="29972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สองเว็บไซต์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581400"/>
            <a:ext cx="2997200" cy="157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Admin สำหรับเจ้าหน้าที่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Kiosk สำหรับผู้มาเยือน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มีสิทธิ์และเซสชัน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800" y="1955800"/>
            <a:ext cx="3454400" cy="3390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400" y="2159000"/>
            <a:ext cx="299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400" y="2717800"/>
            <a:ext cx="29972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ข้อมูลต่อเนื่อง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400" y="3581400"/>
            <a:ext cx="2997200" cy="157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SLAM grid / หุ่น / แท่น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LiDAR / POI / เวลาอัปเดต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ซูมและลากแผนที่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0" y="1955800"/>
            <a:ext cx="3454400" cy="3390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600" y="2159000"/>
            <a:ext cx="299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POI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600" y="2717800"/>
            <a:ext cx="29972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จัดการจุดหมาย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600" y="3581400"/>
            <a:ext cx="2997200" cy="157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เพิ่ม · แก้ไข · ลบ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ชื่อเรียกอื่นใน aliases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อ่านกลับตรวจสอบ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" y="5499100"/>
            <a:ext cx="10972800" cy="495300"/>
          </a:xfrm>
          <a:prstGeom prst="roundRect">
            <a:avLst>
              <a:gd name="adj" fmla="val 10000"/>
            </a:avLst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400" y="5562600"/>
            <a:ext cx="1061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Mock แสดงหน้าตาแบบเชื่อมต่อ · ผลอ่านหุ่นจริงอ้างอิงรอบก่อน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05 · NEW MOCK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Mock Test: ดูหน้าตาแบบต่อหุ่นโดยไม่มีอุปกรณ์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PROGRESS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06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68500"/>
            <a:ext cx="3454400" cy="1892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146300"/>
            <a:ext cx="29972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67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360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302000"/>
            <a:ext cx="29972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จุด LiDAR จำลอง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800" y="1968500"/>
            <a:ext cx="3454400" cy="1892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7400" y="2146300"/>
            <a:ext cx="29972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67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7400" y="3302000"/>
            <a:ext cx="29972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POI พร้อมใช้งาน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0" y="1968500"/>
            <a:ext cx="3454400" cy="1892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6600" y="2146300"/>
            <a:ext cx="29972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67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6600" y="3302000"/>
            <a:ext cx="29972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คำขอ API หุ่นจริง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203700"/>
            <a:ext cx="2806700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ลองบนเว็บได้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1400" y="4254500"/>
            <a:ext cx="8001000" cy="1041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6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นำทาง · กลับแท่น · หยุด · joystick · POI CRUD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6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แสดงการเปลี่ยนตำแหน่งและงานแบบจำลอง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600" y="5499100"/>
            <a:ext cx="10972800" cy="495300"/>
          </a:xfrm>
          <a:prstGeom prst="roundRect">
            <a:avLst>
              <a:gd name="adj" fmla="val 10000"/>
            </a:avLst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7400" y="5562600"/>
            <a:ext cx="1061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ใช้ memory แยกจาก PostgreSQL · ปิด Backend แล้วข้อมูลทดลองหาย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06 · AI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AI: วิธีที่ 1–2 ทำแล้ว วิธีที่ 3 ยังค้าง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PROGRESS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07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55800"/>
            <a:ext cx="3454400" cy="3390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159000"/>
            <a:ext cx="299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01 · ทำแล้ว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717800"/>
            <a:ext cx="29972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กฎและ aliases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581400"/>
            <a:ext cx="2997200" cy="157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รองรับคำขอหลายสำนวน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จับชื่อ POI / ชื่อเรียกอื่น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คำหยุดไม่รอโมเดล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800" y="1955800"/>
            <a:ext cx="3454400" cy="3390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400" y="2159000"/>
            <a:ext cx="299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02 · ทำแล้ว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400" y="2717800"/>
            <a:ext cx="29972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โมเดลตีความ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400" y="3581400"/>
            <a:ext cx="2997200" cy="157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ประโยคอ้อม → JSON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ตรวจ intent / UUID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Backend คุมพิกัดและสิทธิ์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0" y="1955800"/>
            <a:ext cx="3454400" cy="3390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600" y="2159000"/>
            <a:ext cx="299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B95A26"/>
                </a:solidFill>
                <a:latin typeface="TH Sarabun New"/>
                <a:ea typeface="TH Sarabun New"/>
                <a:cs typeface="TH Sarabun New"/>
              </a:defRPr>
            </a:pPr>
            <a:r>
              <a:t>03 · ยังไม่เริ่ม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600" y="2717800"/>
            <a:ext cx="29972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บริบทถามกลับ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600" y="3581400"/>
            <a:ext cx="2997200" cy="157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“ห้อง A หรือ B?”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ตอบ “ห้อง A” แล้วเชื่อมงาน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อ้าง “ที่นั่น” ข้ามข้อความ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" y="5499100"/>
            <a:ext cx="10972800" cy="495300"/>
          </a:xfrm>
          <a:prstGeom prst="roundRect">
            <a:avLst>
              <a:gd name="adj" fmla="val 10000"/>
            </a:avLst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400" y="5562600"/>
            <a:ext cx="1061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คำขอชัดเจนเดินได้เมื่อผ่านข้อกำหนด · ชื่อกำกวมถามใหม่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07 · RECORDED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ผล benchmark AI ที่บันทึกไว้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PROGRESS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08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057400"/>
            <a:ext cx="2857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7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ก่อนปรับ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9500" y="2133600"/>
            <a:ext cx="5308600" cy="342900"/>
          </a:xfrm>
          <a:prstGeom prst="rect">
            <a:avLst/>
          </a:prstGeom>
          <a:solidFill>
            <a:srgbClr val="ED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19500" y="2133600"/>
            <a:ext cx="2787015" cy="342900"/>
          </a:xfrm>
          <a:prstGeom prst="rect">
            <a:avLst/>
          </a:prstGeom>
          <a:solidFill>
            <a:srgbClr val="9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07500" y="2019300"/>
            <a:ext cx="2286000" cy="622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8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21/40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048000"/>
            <a:ext cx="2857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7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กฎ + โมเดล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9500" y="3124200"/>
            <a:ext cx="5308600" cy="342900"/>
          </a:xfrm>
          <a:prstGeom prst="rect">
            <a:avLst/>
          </a:prstGeom>
          <a:solidFill>
            <a:srgbClr val="ED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9500" y="3124200"/>
            <a:ext cx="5308600" cy="3429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7500" y="3009900"/>
            <a:ext cx="2286000" cy="622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8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40/40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038600"/>
            <a:ext cx="2857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7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โมเดล + กฎป้องกัน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9500" y="4114800"/>
            <a:ext cx="5308600" cy="342900"/>
          </a:xfrm>
          <a:prstGeom prst="rect">
            <a:avLst/>
          </a:prstGeom>
          <a:solidFill>
            <a:srgbClr val="ED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19500" y="4114800"/>
            <a:ext cx="5308600" cy="3429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7500" y="4000500"/>
            <a:ext cx="2286000" cy="622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8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40/40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6863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0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7 ต.ค. 2569 · PC / dry-run · ชุดที่ใช้พัฒนา ไม่ใช่ unseen 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5422900"/>
            <a:ext cx="10972800" cy="495300"/>
          </a:xfrm>
          <a:prstGeom prst="roundRect">
            <a:avLst>
              <a:gd name="adj" fmla="val 10000"/>
            </a:avLst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7400" y="5486400"/>
            <a:ext cx="1061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เสนอเดินผิดเจตนา/จุดหมายในชุดนี้: 4 → 0 กรณี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08 · SOFTWARE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ผลตรวจล่าสุดหลังเพิ่ม Mock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PROGRESS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09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55800"/>
            <a:ext cx="3454400" cy="3390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159000"/>
            <a:ext cx="299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52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717800"/>
            <a:ext cx="29972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Backend ผ่าน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581400"/>
            <a:ext cx="2997200" cy="157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API / สิทธิ์ / งาน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AI / แผนที่ / POI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Mock isolation / E-Stop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800" y="1955800"/>
            <a:ext cx="3454400" cy="3390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400" y="2159000"/>
            <a:ext cx="299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TYPECHECK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400" y="2717800"/>
            <a:ext cx="29972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ผ่าน 3 แอป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400" y="3581400"/>
            <a:ext cx="2997200" cy="157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Admin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Kiosk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Backend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0" y="1955800"/>
            <a:ext cx="3454400" cy="3390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600" y="2159000"/>
            <a:ext cx="299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SMOKE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600" y="2717800"/>
            <a:ext cx="29972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เส้นทาง Mock ผ่าน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600" y="3581400"/>
            <a:ext cx="2997200" cy="157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แผนที่ + LiDAR + Kiosk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AI preview เลือก POI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นำทางจำลองและยกเลิก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" y="5499100"/>
            <a:ext cx="10972800" cy="495300"/>
          </a:xfrm>
          <a:prstGeom prst="roundRect">
            <a:avLst>
              <a:gd name="adj" fmla="val 10000"/>
            </a:avLst>
          </a:prstGeom>
          <a:solidFill>
            <a:srgbClr val="F9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400" y="5562600"/>
            <a:ext cx="1061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1" lang="th-TH">
                <a:solidFill>
                  <a:srgbClr val="B95A26"/>
                </a:solidFill>
                <a:latin typeface="TH Sarabun New"/>
                <a:ea typeface="TH Sarabun New"/>
                <a:cs typeface="TH Sarabun New"/>
              </a:defRPr>
            </a:pPr>
            <a:r>
              <a:t>ผลตรวจซอฟต์แวร์และ Mock ไม่ใช่หลักฐานการเดินของหุ่นจริง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09 · MODE SELECTOR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โหมดปกติ / สำรวจ: ฝั่งเว็บทำแล้ว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PROGRESS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10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55800"/>
            <a:ext cx="5308600" cy="3390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159000"/>
            <a:ext cx="4851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ทำแล้ว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717800"/>
            <a:ext cx="48514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ตัวเลือกบนเว็บ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581400"/>
            <a:ext cx="4851400" cy="157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โหมดปกติ / โหมดสำรวจ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เลือกขณะออฟไลน์ได้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จำค่าเมื่อรีเฟรชหน้า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3800" y="1955800"/>
            <a:ext cx="5308600" cy="3390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2400" y="2159000"/>
            <a:ext cx="4851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B95A26"/>
                </a:solidFill>
                <a:latin typeface="TH Sarabun New"/>
                <a:ea typeface="TH Sarabun New"/>
                <a:cs typeface="TH Sarabun New"/>
              </a:defRPr>
            </a:pPr>
            <a:r>
              <a:t>ยังค้าง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2400" y="2717800"/>
            <a:ext cx="48514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เปลี่ยนโหมดบนหุ่น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2400" y="3581400"/>
            <a:ext cx="4851400" cy="157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เชื่อม API จริง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อ่านกลับยืนยันโหมด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ตรวจการสร้าง / จบแผนที่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5499100"/>
            <a:ext cx="10972800" cy="495300"/>
          </a:xfrm>
          <a:prstGeom prst="roundRect">
            <a:avLst>
              <a:gd name="adj" fmla="val 10000"/>
            </a:avLst>
          </a:prstGeom>
          <a:solidFill>
            <a:srgbClr val="F9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400" y="5562600"/>
            <a:ext cx="1061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1" lang="th-TH">
                <a:solidFill>
                  <a:srgbClr val="B95A26"/>
                </a:solidFill>
                <a:latin typeface="TH Sarabun New"/>
                <a:ea typeface="TH Sarabun New"/>
                <a:cs typeface="TH Sarabun New"/>
              </a:defRPr>
            </a:pPr>
            <a:r>
              <a:t>เลือกโหมด ≠ เปิด mapping หรือเริ่มเดินอัตโนมัติ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10 ·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เอกสารส่งมอบที่มีแล้ว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PROGRESS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11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55800"/>
            <a:ext cx="5308600" cy="3390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159000"/>
            <a:ext cx="4851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38 หน้า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717800"/>
            <a:ext cx="48514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รูปเล่มฉบับร่าง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581400"/>
            <a:ext cx="4851400" cy="157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Word แก้ไขได้ + PDF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6 บท / แผนภาพ 4 ภาพ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ตาราง 15 ตาราง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3800" y="1955800"/>
            <a:ext cx="5308600" cy="3390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2400" y="2159000"/>
            <a:ext cx="4851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18 สไลด์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2400" y="2717800"/>
            <a:ext cx="48514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สไลด์ภาพรวมโครงงาน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2400" y="3581400"/>
            <a:ext cx="4851400" cy="157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PowerPoint + PDF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เนื้อหาหลักและข้อมูลสำรอง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มีโน้ตช่วยพูดทุกหน้า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5499100"/>
            <a:ext cx="10972800" cy="495300"/>
          </a:xfrm>
          <a:prstGeom prst="roundRect">
            <a:avLst>
              <a:gd name="adj" fmla="val 10000"/>
            </a:avLst>
          </a:prstGeom>
          <a:solidFill>
            <a:srgbClr val="E4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400" y="5562600"/>
            <a:ext cx="10617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1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ก่อนส่ง: เติมชื่อผู้จัดทำ อาจารย์ สถาบัน และผลตรวจรับเมื่อมีหลักฐาน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11 ·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งานที่ยังค้าง เรียงตามลำดับเสนอทำต่อ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PROGRESS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12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17700"/>
            <a:ext cx="10972800" cy="838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500" y="2044700"/>
            <a:ext cx="774700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1500" y="2044700"/>
            <a:ext cx="3314700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AI วิธีที่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0" y="2082800"/>
            <a:ext cx="59944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บริบทถามกลับ + benchmark หลายข้อความ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2895600"/>
            <a:ext cx="10972800" cy="838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500" y="3022600"/>
            <a:ext cx="774700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1500" y="3022600"/>
            <a:ext cx="3314700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โหมดสำรวจจริง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0" y="3060700"/>
            <a:ext cx="59944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เชื่อม API และยืนยันสถานะจากหุ่น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3873500"/>
            <a:ext cx="10972800" cy="838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500" y="4000500"/>
            <a:ext cx="774700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1500" y="4000500"/>
            <a:ext cx="3314700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ตรวจรับฮาร์ดแวร์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0" y="4038600"/>
            <a:ext cx="59944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ไป POI / หยุด / กลับแท่น / เครือข่ายหลุด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" y="4851400"/>
            <a:ext cx="10972800" cy="838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500" y="4978400"/>
            <a:ext cx="774700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1500" y="4978400"/>
            <a:ext cx="3314700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Jetson + เสียง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0" y="5016500"/>
            <a:ext cx="59944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5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build / latency / RAM / STT / TTS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12 · DEMO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แนวทางเดโมวันนี้: ใช้ Mock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PROGRESS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526671"/>
                </a:solidFill>
                <a:latin typeface="TH Sarabun New"/>
                <a:ea typeface="TH Sarabun New"/>
                <a:cs typeface="TH Sarabun New"/>
              </a:defRPr>
            </a:pPr>
            <a:r>
              <a:t>13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17700"/>
            <a:ext cx="10972800" cy="838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500" y="2044700"/>
            <a:ext cx="774700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1500" y="2044700"/>
            <a:ext cx="4622800" cy="54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7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ตรวจป้าย MOCK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0" y="2082800"/>
            <a:ext cx="46609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ยืนยันว่ากำลังใช้ข้อมูลจำลอง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2895600"/>
            <a:ext cx="10972800" cy="838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500" y="3022600"/>
            <a:ext cx="774700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1500" y="3022600"/>
            <a:ext cx="4622800" cy="54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7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ดูหน้าควบคุมและแผนที่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0" y="3060700"/>
            <a:ext cx="46609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localhost:3000/control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3873500"/>
            <a:ext cx="10972800" cy="838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500" y="4000500"/>
            <a:ext cx="774700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1500" y="4000500"/>
            <a:ext cx="4622800" cy="54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7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เปิดเว็บผู้ช่วยและเลือก POI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0" y="4038600"/>
            <a:ext cx="46609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localhost:3001/ai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" y="4851400"/>
            <a:ext cx="10972800" cy="838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500" y="4978400"/>
            <a:ext cx="774700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900" b="1" lang="th-TH">
                <a:solidFill>
                  <a:srgbClr val="087F80"/>
                </a:solidFill>
                <a:latin typeface="TH Sarabun New"/>
                <a:ea typeface="TH Sarabun New"/>
                <a:cs typeface="TH Sarabun New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1500" y="4978400"/>
            <a:ext cx="4622800" cy="54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700" b="1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ดูงานและตำแหน่งเปลี่ยน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0" y="5016500"/>
            <a:ext cx="46609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2400" b="0" lang="th-TH">
                <a:solidFill>
                  <a:srgbClr val="142D3B"/>
                </a:solidFill>
                <a:latin typeface="TH Sarabun New"/>
                <a:ea typeface="TH Sarabun New"/>
                <a:cs typeface="TH Sarabun New"/>
              </a:defRPr>
            </a:pPr>
            <a:r>
              <a:t>ลองหยุด / กลับแท่นกับหุ่นจำลอง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4500"/>
            <a:ext cx="431800" cy="63500"/>
          </a:xfrm>
          <a:prstGeom prst="rect">
            <a:avLst/>
          </a:prstGeom>
          <a:solidFill>
            <a:srgbClr val="08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8400" y="292100"/>
            <a:ext cx="1003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700" b="1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13 · SUMMARY /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00100"/>
            <a:ext cx="109728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600" b="1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พร้อมทดสอบซอฟต์แวร์ต่อ แม้ยังไม่มีหุ่น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881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1400" b="0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AI ROBOT BUTLER  ·  PROGRESS 13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8900" y="6362700"/>
            <a:ext cx="132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600" b="0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14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2108200"/>
            <a:ext cx="10795000" cy="154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4000" b="1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เว็บ + AI local + Mock Test ทำแล้ว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4000" b="1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หุ่นจริง + Jetson + เสียง ยังต้องตรวจต่อ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3987800"/>
            <a:ext cx="10795000" cy="1130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100" b="0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หลักฐานล่าสุด: 52 tests ผ่าน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3100" b="0" lang="th-TH">
                <a:solidFill>
                  <a:srgbClr val="AFC6CD"/>
                </a:solidFill>
                <a:latin typeface="TH Sarabun New"/>
                <a:ea typeface="TH Sarabun New"/>
                <a:cs typeface="TH Sarabun New"/>
              </a:defRPr>
            </a:pPr>
            <a:r>
              <a:t>AI regression: 40/40 ในชุดทดสอบบน 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5473700"/>
            <a:ext cx="67945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400" b="1" lang="th-TH">
                <a:solidFill>
                  <a:srgbClr val="FFFFFF"/>
                </a:solidFill>
                <a:latin typeface="TH Sarabun New"/>
                <a:ea typeface="TH Sarabun New"/>
                <a:cs typeface="TH Sarabun New"/>
              </a:defRPr>
            </a:pPr>
            <a:r>
              <a:t>ขอบคุณครับ / ค่ะ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5295900"/>
            <a:ext cx="2108200" cy="78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4400" b="1" lang="th-TH">
                <a:solidFill>
                  <a:srgbClr val="72D3C5"/>
                </a:solidFill>
                <a:latin typeface="TH Sarabun New"/>
                <a:ea typeface="TH Sarabun New"/>
                <a:cs typeface="TH Sarabun New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Robot Butler — Progress Report — 13 October 2026</dc:title>
  <dc:subject/>
  <dc:creator>[กรอกชื่อผู้จัดทำ]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