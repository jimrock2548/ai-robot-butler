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แนะนำโครงงานและผู้จัดทำ รายงานแบ่งสองช่วงคือ Website และ AI โดยเริ่มจากความคืบหน้าปัจจุบันก่อนงานค้าง เว็บไซต์สำหรับผู้ใช้หุ่นเรียกว่า Robot Interface ในสไลด์ชุดนี้ มีช่องภาพให้ผู้จัดทำเติมเองและตัวอย่างโค้ดที่ย่อจากโค้ดจริง ไม่มีการทดลองหุ่นหรือโมเดลใหม่ระหว่างจัดทำ</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Website มีสองหน้าใช้งาน Backend และฐานข้อมูล แสดงแผนที่จัดการ POI และมีคำสั่งควบคุมแล้ว งานที่ยังค้างคือเส้นทางอัปโหลดแผนที่ แก้ไขแผนที่รวมกำแพงเสมือน และการเชื่อมโหมดหุ่น ส่วน AI วิธีหนึ่งและสองทำแล้วบน PC มีชุด regression 40 กรณี ส่วนวิธีสาม Jetson และเสียงยังค้าง ไม่ใช้คะแนน benchmark เป็นเปอร์เซ็นต์ความสำเร็จของโครงการ</a:t>
            </a:r>
          </a:p>
          <a:p/>
          <a:p>
            <a:r>
              <a:t>หลักฐาน: PROGRESS.md; maps.ts; robotIntent.ts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ช่วง Website เริ่มด้วยหน้าที่ของเว็บไซต์ทั้งสองฝั่งและพื้นที่ภาพหน้าจอ ต่อด้วยคำอธิบายเส้นทางคำสั่ง Backend ข้อมูลแผนที่และ POI ก่อนสรุปงานค้างที่ผู้จัดทำระบุคืออัปโหลด แก้ไขแผนที่ กำแพงเสมือนและโหมดของหุ่น การมีปุ่มหรือ API ยังไม่เท่ากับผ่านการตรวจรับอุปกรณ์</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Website ใช้โดยเจ้าหน้าที่หรือผู้ดูแลสำหรับดูสถานะ แผนที่ ควบคุมและจัดการจุดหมาย รวมถึงดูงานและบัญชีตามสิทธิ์ Robot Interface ใช้โดยผู้มาเยือนหรือผู้ใช้หุ่น สำหรับเลือกจุดหมาย พิมพ์คำขอ AI ดูงานและยกเลิกงานของตนเอง จุดส่วนตัวถูกกรองจากหน้าใช้งานผู้มาเยือน ช่องสีเทาทั้งสองช่องเป็นรูปทรงแก้ไขได้สำหรับนำภาพหน้าจอมาใส่ ไม่ใช่ภาพหน้าจอจริง</a:t>
            </a:r>
          </a:p>
          <a:p/>
          <a:p>
            <a:r>
              <a:t>หลักฐาน: apps/admin; routes/robot.ts; services/chatService.ts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หนึ่ง ผู้ใช้กดจาก Admin หรือ Robot Interface ส่ง REST request ถึง Backend สอง Backend ตรวจ session หรือ device token บทบาท งาน lock และความพร้อมของแผนที่ สาม บันทึกงานเหตุการณ์ลงฐานข้อมูลเมื่อใช้งานจริง สี่ สั่งหุ่นผ่าน REST adapter ห้า รับข้อมูลหุ่นกลับแล้วส่งสถานะไปเว็บด้วย Socket.IO พร้อม HTTP fallback แหล่งเก็บข้อมูลต่างจากตัวหุ่น เว็บไซต์จึงไม่ยิงคำสั่งฮาร์ดแวร์โดยตรง</a:t>
            </a:r>
          </a:p>
          <a:p/>
          <a:p>
            <a:r>
              <a:t>หลักฐาน: app.ts; middleware/auth.ts; jobService.ts; ws/socket.ts; prisma/schema.prisma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แผนที่สดมี grid หุ่น home POI และ LiDAR ซูมและลากได้ จุดหมายเพิ่มแก้ลบและใส่ aliases ได้พร้อมอ่านกลับยืนยัน มี joystick นำทาง กลับแท่นและหยุดที่ผ่านสิทธิ์และ lock การแก้จุด POI ไม่ใช่การแก้ occupancy map หรือกำแพงเสมือนบนหุ่น ผลการอ่านอุปกรณ์เคยตรวจแล้ว แต่การถึงจุดหมายและการหยุดจริงยังรอตรวจรับ</a:t>
            </a:r>
          </a:p>
          <a:p/>
          <a:p>
            <a:r>
              <a:t>หลักฐาน: LiveRobotMap.tsx; RobotMapEditor.tsx; jobService.ts; navigationPolicy.ts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งานค้างตามที่ผู้จัดทำระบุมีสามกลุ่ม: อัปโหลดหรือใช้ไฟล์แผนที่ร่วมกับหุ่น แก้ไขแผนที่รวมวาดกำแพงเสมือน และเชื่อมโหมดของหุ่น ในโค้ดเดิมมี import JSON ไป draft และเก็บ keepout polygons แต่ไม่ถือว่าเส้นทางอัปโหลดหรือแก้ SLAM map และกำแพงเสมือนบนหุ่นเสร็จแล้ว ต้องเชื่อม API ใช้กับ navigation และอ่านกลับยืนยันจริง</a:t>
            </a:r>
          </a:p>
          <a:p/>
          <a:p>
            <a:r>
              <a:t>หลักฐาน: maps.ts; mapImportSchema; RobotOperatingMode.tsx; SPEC.md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ผล Backend ล่าสุดที่บันทึกไว้ผ่าน 52 tests เป็นจำนวนรวมทั้งระบบ ไม่ใช่ฝั่งเว็บเพียงอย่างเดียว typecheck ผ่าน Admin Robot Interface และ Backend ครอบคลุมสิทธิ์ API เซสชัน งาน แผนที่ POI และการตรวจคำขอ AI ผลอ่านแผนที่ตำแหน่งและ LiDAR จริงเป็นหลักฐานรอบก่อนหน้า ยังไม่อ้างผลเดินจริงหรืออัปโหลดกำแพงเสมือนจริง</a:t>
            </a:r>
          </a:p>
          <a:p/>
          <a:p>
            <a:r>
              <a:t>หลักฐาน: PROGRESS.md; apps/backend/test; scripts/check-robot-live.mjs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ปัจจุบันใช้ Qwen3.5-2B Q5_K_M บน PC ผ่าน llama-server ยังไม่ใช่ Jetson เนื้อหาต่อไปอธิบายเทคนิคที่ทำแล้ว ได้แก่กฎและ aliases โมเดลคืน structured JSON และ backend validation พร้อมโค้ดบางส่วนที่จัดบรรทัดเพื่ออ่านง่าย บริบทถามตอบคำสั่งข้ามข้อความและระบบเสียงยังเป็นงานค้าง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เป็น hybrid intent classification: ตรวจภาษาและจับชื่อก่อน ถ้าคำขอชัดใช้กฎเพื่อลดการรอ หากรูปประโยคอ้อมให้ LLM ตีความ โดยให้เลือก UUID จากรายการปลายทาง และให้ Backend ตรวจอีกชั้น ไม่ได้ใช้ embeddings vector search หรือ fuzzy matching ในการจับชื่อปัจจุบัน ทั้งสองเทคนิคทำแล้ว ไม่ได้ fine-tune โมเดลใหม่</a:t>
            </a:r>
          </a:p>
          <a:p/>
          <a:p>
            <a:r>
              <a:t>หลักฐาน: robotLanguage.ts; robotIntent.ts; robotAiService.ts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 Interface ส่งข้อความ ขั้นแรก normalize และวิเคราะห์ speechAct กับชื่อจุดหมาย คำหยุดที่รองรับเข้าทางลัด ถัดไปกฎหรือโมเดลคืน intent confidence poiCode speechAct needsClarification จากนั้นตรวจ schema รหัสและความกำกวม ก่อนอ่านแผนที่ใหม่และสร้างงาน เฉพาะกรณีผ่านข้อกำหนด หากเป็น dry-run จะคืนผลอย่างเดียว ไม่สร้างงาน</a:t>
            </a:r>
          </a:p>
          <a:p/>
          <a:p>
            <a:r>
              <a:t>หลักฐาน: robotIntent.ts; robotAiService.ts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normalize ใช้ NFC เพื่อคงรูปสระภาษาไทย จากนั้นใช้ regular expressions ตรวจคำขอ คำถาม คำปฏิเสธ สมมติและข้อความยกมา matchRobotDestinations เทียบชื่อและ aliases ตรวจขอบเขตชื่ออังกฤษ และเลือกชื่อเฉพาะกว่าที่ทับตำแหน่งเดียวกัน กรณีชื่อซ้ำจะไม่เดา โค้ดที่เห็นเป็นส่วนของ classifyRobotTranscript ที่จัดบรรทัดใหม่ ไม่ใช่ฟังก์ชันที่รันเดี่ยวได้</a:t>
            </a:r>
          </a:p>
          <a:p/>
          <a:p>
            <a:r>
              <a:t>หลักฐาน: robotLanguage.ts; robotIntent.ts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มี closed set ของ intent และ poiCode ที่อยู่ใน catalog คำสั่งกำหนด JSON Schema เพื่อให้โมเดลตอบตามรูปแบบ และใช้ Zod ตรวจชนิดและช่วงคะแนนอีกครั้ง โค้ด outputSchema เป็น excerpt ที่จัดบรรทัดจากของจริง strict ไม่ให้เพิ่มฟิลด์อื่น confidence เป็นคะแนนจากโมเดล ไม่ใช่สิทธิ์ให้เดินเอง</a:t>
            </a:r>
          </a:p>
          <a:p/>
          <a:p>
            <a:r>
              <a:t>หลักฐาน: robotIntent.ts: outputSchema / schema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Backend เรียก llama-server ผ่าน endpoint chat completions ซึ่งรัน Qwen บน PC prompt อธิบายคำขอสุภาพ คำถาม สมมติ และปฏิเสธ พร้อมรายชื่อ/aliases ของ POI ใช้ temperature 0 seed 42 max tokens 256 และปิด thinking โดยส่ง schema ไปด้วย seed และ temperature ช่วยลดการสุ่มแต่ไม่ได้รับประกันเหมือนกันทุกเครื่องหรืออนุมานว่าคำตอบถูกเสมอ โค้ดนี้ย่อ body จริงเพื่ออ่านบนสไลด์</a:t>
            </a:r>
          </a:p>
          <a:p/>
          <a:p>
            <a:r>
              <a:t>หลักฐาน: robotIntent.ts: fetch / system prompt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หลัง parse JSON มีการตรวจ Zod และตรวจรหัส POI ใน catalog จากนั้น service ตรวจคำปฏิเสธ กำกวม สิทธิ์และชื่อที่ผู้ใช้ระบุ อ่านแผนที่และพิกัดใหม่ก่อน dispatch และตรวจ freshness mapping localization และ lock คำหยุดยังตรวจ command epoch เพื่อกันผล AI ที่มาช้าสั่งเดินภายหลัง โค้ดด้านซ้าย excerpt สองส่วนจากไฟล์จริงจัดบรรทัดและตัดข้อความ error ให้สั้น</a:t>
            </a:r>
          </a:p>
          <a:p/>
          <a:p>
            <a:r>
              <a:t>หลักฐาน: robotIntent.ts; robotAiService.ts; navigationPolicy.ts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ตัวอย่างนี้อิงชื่อหน้าประตูที่มีหลักฐาน dry-run และชื่อเรียกทางเข้าที่รองรับใน metadata ถ้ามี alias อยู่จริง คำขอสุภาพสองแบบเข้าทางกฎ ส่วนข้อความที่วางจุดหมายก่อนคำขออาจใช้ LLM ผลคือ navigate_to กับรหัสเดียวกัน ข้อมูลด้านขวาเป็นรูปอธิบาย ไม่ใช่ log การทดลองใหม่ คำถามอยู่ไหนต้อง where_is ไม่เดิน และอย่าเพิ่งไปต้องไม่ dispatch</a:t>
            </a:r>
          </a:p>
          <a:p/>
          <a:p>
            <a:r>
              <a:t>หลักฐาน: robotIntent.ts; scripts/check-kiosk-ai.mjs; reports/ai-benchmark/hybrid.json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ชุด regression มี 40 กรณีและ 6 POI fixture ตรวจ outcome และ target ที่คาดหวัง ผลวันที่ 7 ตุลาคม ก่อนปรับผ่าน 21/40 หลัง hybrid และ model เป็นหลักผ่าน 40/40 เสนอเดินผิดเจตนาหรือจุดหมายลด 4 เป็น 0 ในชุดนี้ เป็น dry-run บน PC และชุดที่ใช้พัฒนา ไม่ใช่ผล unseen หรือการเดินจริง hybrid ใช้กฎ 33 กรณี โมเดล 7 กรณี p95 4684 ms</a:t>
            </a:r>
          </a:p>
          <a:p/>
          <a:p>
            <a:r>
              <a:t>หลักฐาน: reports/ai-benchmark/{baseline,hybrid,model}.json; docs/benchmark-ai.md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วิธีสามจะเพิ่ม pending intent และอายุของบริบทสำหรับคำตอบถามกลับหรือคำอ้างที่นั่น ต้องกันงานซ้ำและล้างเมื่อยกเลิก พร้อม benchmark แบบหลายข้อความ Jetson เตรียม source/model แล้วแต่ build พัก ไม่มี server และไม่มีผล benchmark ส่วน STT/TTS ยังไม่เปิดใช้ ทั้งหมดนี้เป็นงานถัดไป ไม่ใช่ความสามารถที่ทำเสร็จแล้ว</a:t>
            </a:r>
          </a:p>
          <a:p/>
          <a:p>
            <a:r>
              <a:t>หลักฐาน: PROGRESS.md; SPEC.md; docs/jetson-ai.md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สรุปฝั่ง Website มี Admin Robot Interface Backend แผนที่สดและ POI แล้ว ส่วน upload แก้แผนที่/กำแพงเสมือนและโหมดหุ่นยังค้าง ฝั่ง AI ทำ hybrid rules + LLM พร้อม JSON schema Zod validation และ backend checks แล้ว ผล regressionผ่าน 40/40 ในชุดพัฒนาบน PC งานต่อคือบริบท Jetson และเสียง เปิดรับคำถามและใช้ speaker notes อ้างตำแหน่งโค้ดได้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AFC6CD"/>
                </a:solidFill>
                <a:latin typeface="TH Sarabun New"/>
                <a:ea typeface="TH Sarabun New"/>
                <a:cs typeface="TH Sarabun New"/>
              </a:defRPr>
            </a:pPr>
            <a:r>
              <a:t>PROGRESS REPORT · 13 OCTOBER 2026</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FFFFFF"/>
                </a:solidFill>
                <a:latin typeface="TH Sarabun New"/>
                <a:ea typeface="TH Sarabun New"/>
                <a:cs typeface="TH Sarabun New"/>
              </a:defRPr>
            </a:pPr>
            <a:r>
              <a:t>รายงานความคืบหน้า Website และ AI</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AFC6CD"/>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AFC6CD"/>
                </a:solidFill>
                <a:latin typeface="TH Sarabun New"/>
                <a:ea typeface="TH Sarabun New"/>
                <a:cs typeface="TH Sarabun New"/>
              </a:defRPr>
            </a:pPr>
            <a:r>
              <a:t>01 / 19</a:t>
            </a:r>
          </a:p>
        </p:txBody>
      </p:sp>
      <p:sp>
        <p:nvSpPr>
          <p:cNvPr id="7" name="TextBox 6"/>
          <p:cNvSpPr txBox="1"/>
          <p:nvPr/>
        </p:nvSpPr>
        <p:spPr>
          <a:xfrm>
            <a:off x="609600" y="2006600"/>
            <a:ext cx="6350000" cy="1981200"/>
          </a:xfrm>
          <a:prstGeom prst="rect">
            <a:avLst/>
          </a:prstGeom>
          <a:noFill/>
        </p:spPr>
        <p:txBody>
          <a:bodyPr wrap="square" lIns="0" rIns="0" tIns="0" bIns="0" anchor="t">
            <a:spAutoFit/>
          </a:bodyPr>
          <a:lstStyle/>
          <a:p>
            <a:pPr algn="l">
              <a:lnSpc>
                <a:spcPct val="108000"/>
              </a:lnSpc>
              <a:spcAft>
                <a:spcPts val="0"/>
              </a:spcAft>
              <a:defRPr sz="6500" b="1" lang="th-TH">
                <a:solidFill>
                  <a:srgbClr val="FFFFFF"/>
                </a:solidFill>
                <a:latin typeface="TH Sarabun New"/>
                <a:ea typeface="TH Sarabun New"/>
                <a:cs typeface="TH Sarabun New"/>
              </a:defRPr>
            </a:pPr>
            <a:r>
              <a:t>AI ROBOT</a:t>
            </a:r>
          </a:p>
          <a:p>
            <a:pPr algn="l">
              <a:lnSpc>
                <a:spcPct val="108000"/>
              </a:lnSpc>
              <a:spcAft>
                <a:spcPts val="0"/>
              </a:spcAft>
              <a:defRPr sz="6500" b="1" lang="th-TH">
                <a:solidFill>
                  <a:srgbClr val="FFFFFF"/>
                </a:solidFill>
                <a:latin typeface="TH Sarabun New"/>
                <a:ea typeface="TH Sarabun New"/>
                <a:cs typeface="TH Sarabun New"/>
              </a:defRPr>
            </a:pPr>
            <a:r>
              <a:t>BUTLER</a:t>
            </a:r>
          </a:p>
        </p:txBody>
      </p:sp>
      <p:sp>
        <p:nvSpPr>
          <p:cNvPr id="8" name="TextBox 7"/>
          <p:cNvSpPr txBox="1"/>
          <p:nvPr/>
        </p:nvSpPr>
        <p:spPr>
          <a:xfrm>
            <a:off x="660400" y="4292600"/>
            <a:ext cx="8255000" cy="1003300"/>
          </a:xfrm>
          <a:prstGeom prst="rect">
            <a:avLst/>
          </a:prstGeom>
          <a:noFill/>
        </p:spPr>
        <p:txBody>
          <a:bodyPr wrap="square" lIns="0" rIns="0" tIns="0" bIns="0" anchor="t">
            <a:spAutoFit/>
          </a:bodyPr>
          <a:lstStyle/>
          <a:p>
            <a:pPr algn="l">
              <a:lnSpc>
                <a:spcPct val="108000"/>
              </a:lnSpc>
              <a:spcAft>
                <a:spcPts val="0"/>
              </a:spcAft>
              <a:defRPr sz="2900" b="0" lang="th-TH">
                <a:solidFill>
                  <a:srgbClr val="AFC6CD"/>
                </a:solidFill>
                <a:latin typeface="TH Sarabun New"/>
                <a:ea typeface="TH Sarabun New"/>
                <a:cs typeface="TH Sarabun New"/>
              </a:defRPr>
            </a:pPr>
            <a:r>
              <a:t>Website: Admin + Robot Interface</a:t>
            </a:r>
          </a:p>
          <a:p>
            <a:pPr algn="l">
              <a:lnSpc>
                <a:spcPct val="108000"/>
              </a:lnSpc>
              <a:spcAft>
                <a:spcPts val="0"/>
              </a:spcAft>
              <a:defRPr sz="2900" b="0" lang="th-TH">
                <a:solidFill>
                  <a:srgbClr val="AFC6CD"/>
                </a:solidFill>
                <a:latin typeface="TH Sarabun New"/>
                <a:ea typeface="TH Sarabun New"/>
                <a:cs typeface="TH Sarabun New"/>
              </a:defRPr>
            </a:pPr>
            <a:r>
              <a:t>AI: กฎภาษา + โมเดล local + ตรวจคำสั่ง</a:t>
            </a:r>
          </a:p>
        </p:txBody>
      </p:sp>
      <p:sp>
        <p:nvSpPr>
          <p:cNvPr id="9" name="TextBox 8"/>
          <p:cNvSpPr txBox="1"/>
          <p:nvPr/>
        </p:nvSpPr>
        <p:spPr>
          <a:xfrm>
            <a:off x="660400" y="5613400"/>
            <a:ext cx="8890000" cy="381000"/>
          </a:xfrm>
          <a:prstGeom prst="rect">
            <a:avLst/>
          </a:prstGeom>
          <a:noFill/>
        </p:spPr>
        <p:txBody>
          <a:bodyPr wrap="square" lIns="0" rIns="0" tIns="0" bIns="0" anchor="t">
            <a:spAutoFit/>
          </a:bodyPr>
          <a:lstStyle/>
          <a:p>
            <a:pPr algn="l">
              <a:lnSpc>
                <a:spcPct val="108000"/>
              </a:lnSpc>
              <a:spcAft>
                <a:spcPts val="0"/>
              </a:spcAft>
              <a:defRPr sz="2200" b="0" lang="th-TH">
                <a:solidFill>
                  <a:srgbClr val="AFC6CD"/>
                </a:solidFill>
                <a:latin typeface="TH Sarabun New"/>
                <a:ea typeface="TH Sarabun New"/>
                <a:cs typeface="TH Sarabun New"/>
              </a:defRPr>
            </a:pPr>
            <a:r>
              <a:t>[กรอกชื่อผู้จัดทำ]  |  [กรอกอาจารย์ที่ปรึกษา]</a:t>
            </a:r>
          </a:p>
        </p:txBody>
      </p:sp>
      <p:sp>
        <p:nvSpPr>
          <p:cNvPr id="10" name="Rounded Rectangle 9"/>
          <p:cNvSpPr/>
          <p:nvPr/>
        </p:nvSpPr>
        <p:spPr>
          <a:xfrm>
            <a:off x="9067800" y="2146300"/>
            <a:ext cx="2349500" cy="1460500"/>
          </a:xfrm>
          <a:prstGeom prst="roundRect">
            <a:avLst>
              <a:gd name="adj" fmla="val 10000"/>
            </a:avLst>
          </a:prstGeom>
          <a:solidFill>
            <a:srgbClr val="E4F1E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20200" y="2273300"/>
            <a:ext cx="20447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WEBSITE</a:t>
            </a:r>
          </a:p>
        </p:txBody>
      </p:sp>
      <p:sp>
        <p:nvSpPr>
          <p:cNvPr id="12" name="TextBox 11"/>
          <p:cNvSpPr txBox="1"/>
          <p:nvPr/>
        </p:nvSpPr>
        <p:spPr>
          <a:xfrm>
            <a:off x="9220200" y="2806700"/>
            <a:ext cx="2044700" cy="6985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ข้อมูล / ควบคุม</a:t>
            </a:r>
          </a:p>
        </p:txBody>
      </p:sp>
      <p:sp>
        <p:nvSpPr>
          <p:cNvPr id="13" name="Rounded Rectangle 12"/>
          <p:cNvSpPr/>
          <p:nvPr/>
        </p:nvSpPr>
        <p:spPr>
          <a:xfrm>
            <a:off x="9067800" y="4089400"/>
            <a:ext cx="2349500" cy="1460500"/>
          </a:xfrm>
          <a:prstGeom prst="roundRect">
            <a:avLst>
              <a:gd name="adj" fmla="val 10000"/>
            </a:avLst>
          </a:prstGeom>
          <a:solidFill>
            <a:srgbClr val="E4F1E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20200" y="4216400"/>
            <a:ext cx="20447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AI</a:t>
            </a:r>
          </a:p>
        </p:txBody>
      </p:sp>
      <p:sp>
        <p:nvSpPr>
          <p:cNvPr id="15" name="TextBox 14"/>
          <p:cNvSpPr txBox="1"/>
          <p:nvPr/>
        </p:nvSpPr>
        <p:spPr>
          <a:xfrm>
            <a:off x="9220200" y="4749800"/>
            <a:ext cx="2044700" cy="6985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ตีความ / เลือก POI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OVERVIEW · CURRENT STATUS</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ความคืบหน้าปัจจุบัน แยกเป็น 2 ฝั่ง</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02 / 19</a:t>
            </a:r>
          </a:p>
        </p:txBody>
      </p:sp>
      <p:sp>
        <p:nvSpPr>
          <p:cNvPr id="7" name="Rounded Rectangle 6"/>
          <p:cNvSpPr/>
          <p:nvPr/>
        </p:nvSpPr>
        <p:spPr>
          <a:xfrm>
            <a:off x="609600" y="1943100"/>
            <a:ext cx="5308600" cy="34163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146300"/>
            <a:ext cx="48514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ช่วงที่ 1 · WEBSITE</a:t>
            </a:r>
          </a:p>
        </p:txBody>
      </p:sp>
      <p:sp>
        <p:nvSpPr>
          <p:cNvPr id="9" name="TextBox 8"/>
          <p:cNvSpPr txBox="1"/>
          <p:nvPr/>
        </p:nvSpPr>
        <p:spPr>
          <a:xfrm>
            <a:off x="838200" y="2705100"/>
            <a:ext cx="48514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ระบบเว็บและการควบคุม</a:t>
            </a:r>
          </a:p>
        </p:txBody>
      </p:sp>
      <p:sp>
        <p:nvSpPr>
          <p:cNvPr id="10" name="TextBox 9"/>
          <p:cNvSpPr txBox="1"/>
          <p:nvPr/>
        </p:nvSpPr>
        <p:spPr>
          <a:xfrm>
            <a:off x="838200" y="3568700"/>
            <a:ext cx="4851400" cy="16002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Admin + Robot Interface</a:t>
            </a:r>
          </a:p>
          <a:p>
            <a:pPr algn="l">
              <a:lnSpc>
                <a:spcPct val="108000"/>
              </a:lnSpc>
              <a:spcAft>
                <a:spcPts val="0"/>
              </a:spcAft>
              <a:defRPr sz="2400" b="0" lang="th-TH">
                <a:solidFill>
                  <a:srgbClr val="142D3B"/>
                </a:solidFill>
                <a:latin typeface="TH Sarabun New"/>
                <a:ea typeface="TH Sarabun New"/>
                <a:cs typeface="TH Sarabun New"/>
              </a:defRPr>
            </a:pPr>
            <a:r>
              <a:t>Backend / แผนที่สด / POI ทำแล้ว</a:t>
            </a:r>
          </a:p>
          <a:p>
            <a:pPr algn="l">
              <a:lnSpc>
                <a:spcPct val="108000"/>
              </a:lnSpc>
              <a:spcAft>
                <a:spcPts val="0"/>
              </a:spcAft>
              <a:defRPr sz="2400" b="0" lang="th-TH">
                <a:solidFill>
                  <a:srgbClr val="142D3B"/>
                </a:solidFill>
                <a:latin typeface="TH Sarabun New"/>
                <a:ea typeface="TH Sarabun New"/>
                <a:cs typeface="TH Sarabun New"/>
              </a:defRPr>
            </a:pPr>
            <a:r>
              <a:t>ยังค้าง: upload / แก้แผนที่ / โหมด</a:t>
            </a:r>
          </a:p>
        </p:txBody>
      </p:sp>
      <p:sp>
        <p:nvSpPr>
          <p:cNvPr id="11" name="Rounded Rectangle 10"/>
          <p:cNvSpPr/>
          <p:nvPr/>
        </p:nvSpPr>
        <p:spPr>
          <a:xfrm>
            <a:off x="6273800" y="1943100"/>
            <a:ext cx="5308600" cy="34163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2400" y="2146300"/>
            <a:ext cx="48514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ช่วงที่ 2 · AI</a:t>
            </a:r>
          </a:p>
        </p:txBody>
      </p:sp>
      <p:sp>
        <p:nvSpPr>
          <p:cNvPr id="13" name="TextBox 12"/>
          <p:cNvSpPr txBox="1"/>
          <p:nvPr/>
        </p:nvSpPr>
        <p:spPr>
          <a:xfrm>
            <a:off x="6502400" y="2705100"/>
            <a:ext cx="48514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คำสั่งภาษาธรรมชาติ</a:t>
            </a:r>
          </a:p>
        </p:txBody>
      </p:sp>
      <p:sp>
        <p:nvSpPr>
          <p:cNvPr id="14" name="TextBox 13"/>
          <p:cNvSpPr txBox="1"/>
          <p:nvPr/>
        </p:nvSpPr>
        <p:spPr>
          <a:xfrm>
            <a:off x="6502400" y="3568700"/>
            <a:ext cx="4851400" cy="16002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กฎ + aliases + โมเดลบน PC</a:t>
            </a:r>
          </a:p>
          <a:p>
            <a:pPr algn="l">
              <a:lnSpc>
                <a:spcPct val="108000"/>
              </a:lnSpc>
              <a:spcAft>
                <a:spcPts val="0"/>
              </a:spcAft>
              <a:defRPr sz="2400" b="0" lang="th-TH">
                <a:solidFill>
                  <a:srgbClr val="142D3B"/>
                </a:solidFill>
                <a:latin typeface="TH Sarabun New"/>
                <a:ea typeface="TH Sarabun New"/>
                <a:cs typeface="TH Sarabun New"/>
              </a:defRPr>
            </a:pPr>
            <a:r>
              <a:t>structured output / benchmark ทำแล้ว</a:t>
            </a:r>
          </a:p>
          <a:p>
            <a:pPr algn="l">
              <a:lnSpc>
                <a:spcPct val="108000"/>
              </a:lnSpc>
              <a:spcAft>
                <a:spcPts val="0"/>
              </a:spcAft>
              <a:defRPr sz="2400" b="0" lang="th-TH">
                <a:solidFill>
                  <a:srgbClr val="142D3B"/>
                </a:solidFill>
                <a:latin typeface="TH Sarabun New"/>
                <a:ea typeface="TH Sarabun New"/>
                <a:cs typeface="TH Sarabun New"/>
              </a:defRPr>
            </a:pPr>
            <a:r>
              <a:t>ยังค้าง: บริบท / Jetson / เสียง</a:t>
            </a:r>
          </a:p>
        </p:txBody>
      </p:sp>
      <p:sp>
        <p:nvSpPr>
          <p:cNvPr id="15" name="Rounded Rectangle 14"/>
          <p:cNvSpPr/>
          <p:nvPr/>
        </p:nvSpPr>
        <p:spPr>
          <a:xfrm>
            <a:off x="609600" y="5499100"/>
            <a:ext cx="10972800" cy="495300"/>
          </a:xfrm>
          <a:prstGeom prst="roundRect">
            <a:avLst>
              <a:gd name="adj" fmla="val 10000"/>
            </a:avLst>
          </a:prstGeom>
          <a:solidFill>
            <a:srgbClr val="F9E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B95A26"/>
                </a:solidFill>
                <a:latin typeface="TH Sarabun New"/>
                <a:ea typeface="TH Sarabun New"/>
                <a:cs typeface="TH Sarabun New"/>
              </a:defRPr>
            </a:pPr>
            <a:r>
              <a:t>สถานะอ้างอิงโค้ดและผลเดิม · การเคลื่อนที่จริงยังรอตรวจรับ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AFC6CD"/>
                </a:solidFill>
                <a:latin typeface="TH Sarabun New"/>
                <a:ea typeface="TH Sarabun New"/>
                <a:cs typeface="TH Sarabun New"/>
              </a:defRPr>
            </a:pPr>
            <a:r>
              <a:t>PART 01 · WEBSITE</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FFFFFF"/>
                </a:solidFill>
                <a:latin typeface="TH Sarabun New"/>
                <a:ea typeface="TH Sarabun New"/>
                <a:cs typeface="TH Sarabun New"/>
              </a:defRPr>
            </a:pPr>
            <a:r>
              <a:t>ช่วงที่ 1 — ความคืบหน้าฝั่ง Website</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AFC6CD"/>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AFC6CD"/>
                </a:solidFill>
                <a:latin typeface="TH Sarabun New"/>
                <a:ea typeface="TH Sarabun New"/>
                <a:cs typeface="TH Sarabun New"/>
              </a:defRPr>
            </a:pPr>
            <a:r>
              <a:t>03 / 19</a:t>
            </a:r>
          </a:p>
        </p:txBody>
      </p:sp>
      <p:sp>
        <p:nvSpPr>
          <p:cNvPr id="7" name="TextBox 6"/>
          <p:cNvSpPr txBox="1"/>
          <p:nvPr/>
        </p:nvSpPr>
        <p:spPr>
          <a:xfrm>
            <a:off x="660400" y="2171700"/>
            <a:ext cx="10795000" cy="863600"/>
          </a:xfrm>
          <a:prstGeom prst="rect">
            <a:avLst/>
          </a:prstGeom>
          <a:noFill/>
        </p:spPr>
        <p:txBody>
          <a:bodyPr wrap="square" lIns="0" rIns="0" tIns="0" bIns="0" anchor="t">
            <a:spAutoFit/>
          </a:bodyPr>
          <a:lstStyle/>
          <a:p>
            <a:pPr algn="l">
              <a:lnSpc>
                <a:spcPct val="108000"/>
              </a:lnSpc>
              <a:spcAft>
                <a:spcPts val="0"/>
              </a:spcAft>
              <a:defRPr sz="4300" b="1" lang="th-TH">
                <a:solidFill>
                  <a:srgbClr val="FFFFFF"/>
                </a:solidFill>
                <a:latin typeface="TH Sarabun New"/>
                <a:ea typeface="TH Sarabun New"/>
                <a:cs typeface="TH Sarabun New"/>
              </a:defRPr>
            </a:pPr>
            <a:r>
              <a:t>Admin Website + Robot Interface</a:t>
            </a:r>
          </a:p>
        </p:txBody>
      </p:sp>
      <p:sp>
        <p:nvSpPr>
          <p:cNvPr id="8" name="TextBox 7"/>
          <p:cNvSpPr txBox="1"/>
          <p:nvPr/>
        </p:nvSpPr>
        <p:spPr>
          <a:xfrm>
            <a:off x="660400" y="3479800"/>
            <a:ext cx="10795000" cy="1257300"/>
          </a:xfrm>
          <a:prstGeom prst="rect">
            <a:avLst/>
          </a:prstGeom>
          <a:noFill/>
        </p:spPr>
        <p:txBody>
          <a:bodyPr wrap="square" lIns="0" rIns="0" tIns="0" bIns="0" anchor="t">
            <a:spAutoFit/>
          </a:bodyPr>
          <a:lstStyle/>
          <a:p>
            <a:pPr algn="l">
              <a:lnSpc>
                <a:spcPct val="108000"/>
              </a:lnSpc>
              <a:spcAft>
                <a:spcPts val="0"/>
              </a:spcAft>
              <a:defRPr sz="3400" b="0" lang="th-TH">
                <a:solidFill>
                  <a:srgbClr val="AFC6CD"/>
                </a:solidFill>
                <a:latin typeface="TH Sarabun New"/>
                <a:ea typeface="TH Sarabun New"/>
                <a:cs typeface="TH Sarabun New"/>
              </a:defRPr>
            </a:pPr>
            <a:r>
              <a:t>มี Backend และฐานข้อมูลกลาง</a:t>
            </a:r>
          </a:p>
          <a:p>
            <a:pPr algn="l">
              <a:lnSpc>
                <a:spcPct val="108000"/>
              </a:lnSpc>
              <a:spcAft>
                <a:spcPts val="0"/>
              </a:spcAft>
              <a:defRPr sz="3400" b="0" lang="th-TH">
                <a:solidFill>
                  <a:srgbClr val="AFC6CD"/>
                </a:solidFill>
                <a:latin typeface="TH Sarabun New"/>
                <a:ea typeface="TH Sarabun New"/>
                <a:cs typeface="TH Sarabun New"/>
              </a:defRPr>
            </a:pPr>
            <a:r>
              <a:t>แสดงสถานะ แผนที่ POI และงานนำทาง</a:t>
            </a:r>
          </a:p>
        </p:txBody>
      </p:sp>
      <p:sp>
        <p:nvSpPr>
          <p:cNvPr id="9" name="TextBox 8"/>
          <p:cNvSpPr txBox="1"/>
          <p:nvPr/>
        </p:nvSpPr>
        <p:spPr>
          <a:xfrm>
            <a:off x="660400" y="5397500"/>
            <a:ext cx="10795000" cy="508000"/>
          </a:xfrm>
          <a:prstGeom prst="rect">
            <a:avLst/>
          </a:prstGeom>
          <a:noFill/>
        </p:spPr>
        <p:txBody>
          <a:bodyPr wrap="square" lIns="0" rIns="0" tIns="0" bIns="0" anchor="t">
            <a:spAutoFit/>
          </a:bodyPr>
          <a:lstStyle/>
          <a:p>
            <a:pPr algn="l">
              <a:lnSpc>
                <a:spcPct val="108000"/>
              </a:lnSpc>
              <a:spcAft>
                <a:spcPts val="0"/>
              </a:spcAft>
              <a:defRPr sz="2700" b="0" lang="th-TH">
                <a:solidFill>
                  <a:srgbClr val="AFC6CD"/>
                </a:solidFill>
                <a:latin typeface="TH Sarabun New"/>
                <a:ea typeface="TH Sarabun New"/>
                <a:cs typeface="TH Sarabun New"/>
              </a:defRPr>
            </a:pPr>
            <a:r>
              <a:t>รายงาน: หน้าจอ → การไหลของข้อมูล → งานค้าง → ผลตรวจ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WEBSITE · INTERFACES</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เว็บไซต์ทั้ง 2 ฝั่ง: หน้าที่และความคืบหน้า</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04 / 19</a:t>
            </a:r>
          </a:p>
        </p:txBody>
      </p:sp>
      <p:sp>
        <p:nvSpPr>
          <p:cNvPr id="7" name="Rounded Rectangle 6"/>
          <p:cNvSpPr/>
          <p:nvPr/>
        </p:nvSpPr>
        <p:spPr>
          <a:xfrm>
            <a:off x="609600" y="1905000"/>
            <a:ext cx="5308600" cy="40386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006600"/>
            <a:ext cx="4851400" cy="558800"/>
          </a:xfrm>
          <a:prstGeom prst="rect">
            <a:avLst/>
          </a:prstGeom>
          <a:noFill/>
        </p:spPr>
        <p:txBody>
          <a:bodyPr wrap="square" lIns="0" rIns="0" tIns="0" bIns="0" anchor="t">
            <a:spAutoFit/>
          </a:bodyPr>
          <a:lstStyle/>
          <a:p>
            <a:pPr algn="l">
              <a:lnSpc>
                <a:spcPct val="108000"/>
              </a:lnSpc>
              <a:spcAft>
                <a:spcPts val="0"/>
              </a:spcAft>
              <a:defRPr sz="3100" b="1" lang="th-TH">
                <a:solidFill>
                  <a:srgbClr val="087F80"/>
                </a:solidFill>
                <a:latin typeface="TH Sarabun New"/>
                <a:ea typeface="TH Sarabun New"/>
                <a:cs typeface="TH Sarabun New"/>
              </a:defRPr>
            </a:pPr>
            <a:r>
              <a:t>Admin Website</a:t>
            </a:r>
          </a:p>
        </p:txBody>
      </p:sp>
      <p:sp>
        <p:nvSpPr>
          <p:cNvPr id="9" name="TextBox 8"/>
          <p:cNvSpPr txBox="1"/>
          <p:nvPr/>
        </p:nvSpPr>
        <p:spPr>
          <a:xfrm>
            <a:off x="838200" y="2667000"/>
            <a:ext cx="4851400" cy="1054100"/>
          </a:xfrm>
          <a:prstGeom prst="rect">
            <a:avLst/>
          </a:prstGeom>
          <a:noFill/>
        </p:spPr>
        <p:txBody>
          <a:bodyPr wrap="square" lIns="0" rIns="0" tIns="0" bIns="0" anchor="t">
            <a:spAutoFit/>
          </a:bodyPr>
          <a:lstStyle/>
          <a:p>
            <a:pPr algn="l">
              <a:lnSpc>
                <a:spcPct val="108000"/>
              </a:lnSpc>
              <a:spcAft>
                <a:spcPts val="0"/>
              </a:spcAft>
              <a:defRPr sz="2300" b="0" lang="th-TH">
                <a:solidFill>
                  <a:srgbClr val="142D3B"/>
                </a:solidFill>
                <a:latin typeface="TH Sarabun New"/>
                <a:ea typeface="TH Sarabun New"/>
                <a:cs typeface="TH Sarabun New"/>
              </a:defRPr>
            </a:pPr>
            <a:r>
              <a:t>ผู้ใช้: เจ้าหน้าที่ / ผู้ดูแลระบบ</a:t>
            </a:r>
          </a:p>
          <a:p>
            <a:pPr algn="l">
              <a:lnSpc>
                <a:spcPct val="108000"/>
              </a:lnSpc>
              <a:spcAft>
                <a:spcPts val="0"/>
              </a:spcAft>
              <a:defRPr sz="2300" b="0" lang="th-TH">
                <a:solidFill>
                  <a:srgbClr val="142D3B"/>
                </a:solidFill>
                <a:latin typeface="TH Sarabun New"/>
                <a:ea typeface="TH Sarabun New"/>
                <a:cs typeface="TH Sarabun New"/>
              </a:defRPr>
            </a:pPr>
            <a:r>
              <a:t>ดูสถานะ แผนที่ และควบคุมหุ่น</a:t>
            </a:r>
          </a:p>
          <a:p>
            <a:pPr algn="l">
              <a:lnSpc>
                <a:spcPct val="108000"/>
              </a:lnSpc>
              <a:spcAft>
                <a:spcPts val="0"/>
              </a:spcAft>
              <a:defRPr sz="2300" b="0" lang="th-TH">
                <a:solidFill>
                  <a:srgbClr val="142D3B"/>
                </a:solidFill>
                <a:latin typeface="TH Sarabun New"/>
                <a:ea typeface="TH Sarabun New"/>
                <a:cs typeface="TH Sarabun New"/>
              </a:defRPr>
            </a:pPr>
            <a:r>
              <a:t>จัดการ POI ผู้ใช้ และประวัติงาน</a:t>
            </a:r>
          </a:p>
        </p:txBody>
      </p:sp>
      <p:sp>
        <p:nvSpPr>
          <p:cNvPr id="10" name="Rounded Rectangle 9"/>
          <p:cNvSpPr/>
          <p:nvPr/>
        </p:nvSpPr>
        <p:spPr>
          <a:xfrm>
            <a:off x="838200" y="3873500"/>
            <a:ext cx="4851400" cy="1765300"/>
          </a:xfrm>
          <a:prstGeom prst="roundRect">
            <a:avLst>
              <a:gd name="adj" fmla="val 10000"/>
            </a:avLst>
          </a:prstGeom>
          <a:solidFill>
            <a:srgbClr val="EDF1F2"/>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3300" y="4191000"/>
            <a:ext cx="4521200" cy="508000"/>
          </a:xfrm>
          <a:prstGeom prst="rect">
            <a:avLst/>
          </a:prstGeom>
          <a:noFill/>
        </p:spPr>
        <p:txBody>
          <a:bodyPr wrap="square" lIns="0" rIns="0" tIns="0" bIns="0" anchor="t">
            <a:spAutoFit/>
          </a:bodyPr>
          <a:lstStyle/>
          <a:p>
            <a:pPr algn="ctr">
              <a:lnSpc>
                <a:spcPct val="108000"/>
              </a:lnSpc>
              <a:spcAft>
                <a:spcPts val="0"/>
              </a:spcAft>
              <a:defRPr sz="2500" b="1" lang="th-TH">
                <a:solidFill>
                  <a:srgbClr val="526671"/>
                </a:solidFill>
                <a:latin typeface="TH Sarabun New"/>
                <a:ea typeface="TH Sarabun New"/>
                <a:cs typeface="TH Sarabun New"/>
              </a:defRPr>
            </a:pPr>
            <a:r>
              <a:t>ใส่รูปหน้า Admin Dashboard</a:t>
            </a:r>
          </a:p>
        </p:txBody>
      </p:sp>
      <p:sp>
        <p:nvSpPr>
          <p:cNvPr id="12" name="TextBox 11"/>
          <p:cNvSpPr txBox="1"/>
          <p:nvPr/>
        </p:nvSpPr>
        <p:spPr>
          <a:xfrm>
            <a:off x="1003300" y="4826000"/>
            <a:ext cx="4521200" cy="368300"/>
          </a:xfrm>
          <a:prstGeom prst="rect">
            <a:avLst/>
          </a:prstGeom>
          <a:noFill/>
        </p:spPr>
        <p:txBody>
          <a:bodyPr wrap="square" lIns="0" rIns="0" tIns="0" bIns="0" anchor="t">
            <a:spAutoFit/>
          </a:bodyPr>
          <a:lstStyle/>
          <a:p>
            <a:pPr algn="ctr">
              <a:lnSpc>
                <a:spcPct val="108000"/>
              </a:lnSpc>
              <a:spcAft>
                <a:spcPts val="0"/>
              </a:spcAft>
              <a:defRPr sz="1900" b="0" lang="th-TH">
                <a:solidFill>
                  <a:srgbClr val="526671"/>
                </a:solidFill>
                <a:latin typeface="TH Sarabun New"/>
                <a:ea typeface="TH Sarabun New"/>
                <a:cs typeface="TH Sarabun New"/>
              </a:defRPr>
            </a:pPr>
            <a:r>
              <a:t>พื้นที่สำหรับใส่ภาพหน้าจอเอง</a:t>
            </a:r>
          </a:p>
        </p:txBody>
      </p:sp>
      <p:sp>
        <p:nvSpPr>
          <p:cNvPr id="13" name="Rounded Rectangle 12"/>
          <p:cNvSpPr/>
          <p:nvPr/>
        </p:nvSpPr>
        <p:spPr>
          <a:xfrm>
            <a:off x="6273800" y="1905000"/>
            <a:ext cx="5308600" cy="40386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2400" y="2006600"/>
            <a:ext cx="4851400" cy="558800"/>
          </a:xfrm>
          <a:prstGeom prst="rect">
            <a:avLst/>
          </a:prstGeom>
          <a:noFill/>
        </p:spPr>
        <p:txBody>
          <a:bodyPr wrap="square" lIns="0" rIns="0" tIns="0" bIns="0" anchor="t">
            <a:spAutoFit/>
          </a:bodyPr>
          <a:lstStyle/>
          <a:p>
            <a:pPr algn="l">
              <a:lnSpc>
                <a:spcPct val="108000"/>
              </a:lnSpc>
              <a:spcAft>
                <a:spcPts val="0"/>
              </a:spcAft>
              <a:defRPr sz="3100" b="1" lang="th-TH">
                <a:solidFill>
                  <a:srgbClr val="087F80"/>
                </a:solidFill>
                <a:latin typeface="TH Sarabun New"/>
                <a:ea typeface="TH Sarabun New"/>
                <a:cs typeface="TH Sarabun New"/>
              </a:defRPr>
            </a:pPr>
            <a:r>
              <a:t>Robot Interface</a:t>
            </a:r>
          </a:p>
        </p:txBody>
      </p:sp>
      <p:sp>
        <p:nvSpPr>
          <p:cNvPr id="15" name="TextBox 14"/>
          <p:cNvSpPr txBox="1"/>
          <p:nvPr/>
        </p:nvSpPr>
        <p:spPr>
          <a:xfrm>
            <a:off x="6502400" y="2667000"/>
            <a:ext cx="4851400" cy="1054100"/>
          </a:xfrm>
          <a:prstGeom prst="rect">
            <a:avLst/>
          </a:prstGeom>
          <a:noFill/>
        </p:spPr>
        <p:txBody>
          <a:bodyPr wrap="square" lIns="0" rIns="0" tIns="0" bIns="0" anchor="t">
            <a:spAutoFit/>
          </a:bodyPr>
          <a:lstStyle/>
          <a:p>
            <a:pPr algn="l">
              <a:lnSpc>
                <a:spcPct val="108000"/>
              </a:lnSpc>
              <a:spcAft>
                <a:spcPts val="0"/>
              </a:spcAft>
              <a:defRPr sz="2300" b="0" lang="th-TH">
                <a:solidFill>
                  <a:srgbClr val="142D3B"/>
                </a:solidFill>
                <a:latin typeface="TH Sarabun New"/>
                <a:ea typeface="TH Sarabun New"/>
                <a:cs typeface="TH Sarabun New"/>
              </a:defRPr>
            </a:pPr>
            <a:r>
              <a:t>ผู้ใช้: ผู้มาเยือน / ผู้ใช้หุ่น</a:t>
            </a:r>
          </a:p>
          <a:p>
            <a:pPr algn="l">
              <a:lnSpc>
                <a:spcPct val="108000"/>
              </a:lnSpc>
              <a:spcAft>
                <a:spcPts val="0"/>
              </a:spcAft>
              <a:defRPr sz="2300" b="0" lang="th-TH">
                <a:solidFill>
                  <a:srgbClr val="142D3B"/>
                </a:solidFill>
                <a:latin typeface="TH Sarabun New"/>
                <a:ea typeface="TH Sarabun New"/>
                <a:cs typeface="TH Sarabun New"/>
              </a:defRPr>
            </a:pPr>
            <a:r>
              <a:t>เลือก POI และพิมพ์คำขอ AI</a:t>
            </a:r>
          </a:p>
          <a:p>
            <a:pPr algn="l">
              <a:lnSpc>
                <a:spcPct val="108000"/>
              </a:lnSpc>
              <a:spcAft>
                <a:spcPts val="0"/>
              </a:spcAft>
              <a:defRPr sz="2300" b="0" lang="th-TH">
                <a:solidFill>
                  <a:srgbClr val="142D3B"/>
                </a:solidFill>
                <a:latin typeface="TH Sarabun New"/>
                <a:ea typeface="TH Sarabun New"/>
                <a:cs typeface="TH Sarabun New"/>
              </a:defRPr>
            </a:pPr>
            <a:r>
              <a:t>ติดตามงานและยกเลิกงานของตน</a:t>
            </a:r>
          </a:p>
        </p:txBody>
      </p:sp>
      <p:sp>
        <p:nvSpPr>
          <p:cNvPr id="16" name="Rounded Rectangle 15"/>
          <p:cNvSpPr/>
          <p:nvPr/>
        </p:nvSpPr>
        <p:spPr>
          <a:xfrm>
            <a:off x="6502400" y="3873500"/>
            <a:ext cx="4851400" cy="1765300"/>
          </a:xfrm>
          <a:prstGeom prst="roundRect">
            <a:avLst>
              <a:gd name="adj" fmla="val 10000"/>
            </a:avLst>
          </a:prstGeom>
          <a:solidFill>
            <a:srgbClr val="EDF1F2"/>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67500" y="4191000"/>
            <a:ext cx="4521200" cy="508000"/>
          </a:xfrm>
          <a:prstGeom prst="rect">
            <a:avLst/>
          </a:prstGeom>
          <a:noFill/>
        </p:spPr>
        <p:txBody>
          <a:bodyPr wrap="square" lIns="0" rIns="0" tIns="0" bIns="0" anchor="t">
            <a:spAutoFit/>
          </a:bodyPr>
          <a:lstStyle/>
          <a:p>
            <a:pPr algn="ctr">
              <a:lnSpc>
                <a:spcPct val="108000"/>
              </a:lnSpc>
              <a:spcAft>
                <a:spcPts val="0"/>
              </a:spcAft>
              <a:defRPr sz="2500" b="1" lang="th-TH">
                <a:solidFill>
                  <a:srgbClr val="526671"/>
                </a:solidFill>
                <a:latin typeface="TH Sarabun New"/>
                <a:ea typeface="TH Sarabun New"/>
                <a:cs typeface="TH Sarabun New"/>
              </a:defRPr>
            </a:pPr>
            <a:r>
              <a:t>ใส่รูปหน้า Robot Interface</a:t>
            </a:r>
          </a:p>
        </p:txBody>
      </p:sp>
      <p:sp>
        <p:nvSpPr>
          <p:cNvPr id="18" name="TextBox 17"/>
          <p:cNvSpPr txBox="1"/>
          <p:nvPr/>
        </p:nvSpPr>
        <p:spPr>
          <a:xfrm>
            <a:off x="6667500" y="4826000"/>
            <a:ext cx="4521200" cy="368300"/>
          </a:xfrm>
          <a:prstGeom prst="rect">
            <a:avLst/>
          </a:prstGeom>
          <a:noFill/>
        </p:spPr>
        <p:txBody>
          <a:bodyPr wrap="square" lIns="0" rIns="0" tIns="0" bIns="0" anchor="t">
            <a:spAutoFit/>
          </a:bodyPr>
          <a:lstStyle/>
          <a:p>
            <a:pPr algn="ctr">
              <a:lnSpc>
                <a:spcPct val="108000"/>
              </a:lnSpc>
              <a:spcAft>
                <a:spcPts val="0"/>
              </a:spcAft>
              <a:defRPr sz="1900" b="0" lang="th-TH">
                <a:solidFill>
                  <a:srgbClr val="526671"/>
                </a:solidFill>
                <a:latin typeface="TH Sarabun New"/>
                <a:ea typeface="TH Sarabun New"/>
                <a:cs typeface="TH Sarabun New"/>
              </a:defRPr>
            </a:pPr>
            <a:r>
              <a:t>พื้นที่สำหรับใส่ภาพหน้าจอเอง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WEBSITE · REQUEST / VALIDATION / ACTION</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เมื่อผู้ใช้กดสั่งงาน ข้อมูลเดินทางอย่างไร</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05 / 19</a:t>
            </a:r>
          </a:p>
        </p:txBody>
      </p:sp>
      <p:sp>
        <p:nvSpPr>
          <p:cNvPr id="7" name="Rounded Rectangle 6"/>
          <p:cNvSpPr/>
          <p:nvPr/>
        </p:nvSpPr>
        <p:spPr>
          <a:xfrm>
            <a:off x="609600" y="1892300"/>
            <a:ext cx="2794000" cy="14732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2019300"/>
            <a:ext cx="24892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ADMIN WEBSITE</a:t>
            </a:r>
          </a:p>
        </p:txBody>
      </p:sp>
      <p:sp>
        <p:nvSpPr>
          <p:cNvPr id="9" name="TextBox 8"/>
          <p:cNvSpPr txBox="1"/>
          <p:nvPr/>
        </p:nvSpPr>
        <p:spPr>
          <a:xfrm>
            <a:off x="762000" y="2552700"/>
            <a:ext cx="2489200" cy="7112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1. ส่งคำขอควบคุม</a:t>
            </a:r>
          </a:p>
          <a:p>
            <a:pPr algn="l">
              <a:lnSpc>
                <a:spcPct val="108000"/>
              </a:lnSpc>
              <a:spcAft>
                <a:spcPts val="0"/>
              </a:spcAft>
              <a:defRPr sz="2100" b="0" lang="th-TH">
                <a:solidFill>
                  <a:srgbClr val="142D3B"/>
                </a:solidFill>
                <a:latin typeface="TH Sarabun New"/>
                <a:ea typeface="TH Sarabun New"/>
                <a:cs typeface="TH Sarabun New"/>
              </a:defRPr>
            </a:pPr>
            <a:r>
              <a:t>ใช้ session ผู้ใช้</a:t>
            </a:r>
          </a:p>
        </p:txBody>
      </p:sp>
      <p:sp>
        <p:nvSpPr>
          <p:cNvPr id="10" name="Rounded Rectangle 9"/>
          <p:cNvSpPr/>
          <p:nvPr/>
        </p:nvSpPr>
        <p:spPr>
          <a:xfrm>
            <a:off x="609600" y="3975100"/>
            <a:ext cx="2794000" cy="14732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 y="4102100"/>
            <a:ext cx="24892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ROBOT INTERFACE</a:t>
            </a:r>
          </a:p>
        </p:txBody>
      </p:sp>
      <p:sp>
        <p:nvSpPr>
          <p:cNvPr id="12" name="TextBox 11"/>
          <p:cNvSpPr txBox="1"/>
          <p:nvPr/>
        </p:nvSpPr>
        <p:spPr>
          <a:xfrm>
            <a:off x="762000" y="4635500"/>
            <a:ext cx="2489200" cy="7112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1. ส่งคำขอผู้มาเยือน</a:t>
            </a:r>
          </a:p>
          <a:p>
            <a:pPr algn="l">
              <a:lnSpc>
                <a:spcPct val="108000"/>
              </a:lnSpc>
              <a:spcAft>
                <a:spcPts val="0"/>
              </a:spcAft>
              <a:defRPr sz="2100" b="0" lang="th-TH">
                <a:solidFill>
                  <a:srgbClr val="142D3B"/>
                </a:solidFill>
                <a:latin typeface="TH Sarabun New"/>
                <a:ea typeface="TH Sarabun New"/>
                <a:cs typeface="TH Sarabun New"/>
              </a:defRPr>
            </a:pPr>
            <a:r>
              <a:t>ผ่าน server-side proxy</a:t>
            </a:r>
          </a:p>
        </p:txBody>
      </p:sp>
      <p:sp>
        <p:nvSpPr>
          <p:cNvPr id="13" name="Rounded Rectangle 12"/>
          <p:cNvSpPr/>
          <p:nvPr/>
        </p:nvSpPr>
        <p:spPr>
          <a:xfrm>
            <a:off x="4483100" y="2514600"/>
            <a:ext cx="3708400" cy="2857500"/>
          </a:xfrm>
          <a:prstGeom prst="roundRect">
            <a:avLst>
              <a:gd name="adj" fmla="val 10000"/>
            </a:avLst>
          </a:prstGeom>
          <a:solidFill>
            <a:srgbClr val="E4F1E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5500" y="2641600"/>
            <a:ext cx="34036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BACKEND</a:t>
            </a:r>
          </a:p>
        </p:txBody>
      </p:sp>
      <p:sp>
        <p:nvSpPr>
          <p:cNvPr id="15" name="TextBox 14"/>
          <p:cNvSpPr txBox="1"/>
          <p:nvPr/>
        </p:nvSpPr>
        <p:spPr>
          <a:xfrm>
            <a:off x="4635500" y="3175000"/>
            <a:ext cx="3403600" cy="20955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2. ตรวจสิทธิ์และงาน / lock</a:t>
            </a:r>
          </a:p>
          <a:p>
            <a:pPr algn="l">
              <a:lnSpc>
                <a:spcPct val="108000"/>
              </a:lnSpc>
              <a:spcAft>
                <a:spcPts val="0"/>
              </a:spcAft>
              <a:defRPr sz="2100" b="0" lang="th-TH">
                <a:solidFill>
                  <a:srgbClr val="142D3B"/>
                </a:solidFill>
                <a:latin typeface="TH Sarabun New"/>
                <a:ea typeface="TH Sarabun New"/>
                <a:cs typeface="TH Sarabun New"/>
              </a:defRPr>
            </a:pPr>
            <a:r>
              <a:t>ตรวจแผนที่และตำแหน่ง</a:t>
            </a:r>
          </a:p>
          <a:p>
            <a:pPr algn="l">
              <a:lnSpc>
                <a:spcPct val="108000"/>
              </a:lnSpc>
              <a:spcAft>
                <a:spcPts val="0"/>
              </a:spcAft>
              <a:defRPr sz="2100" b="0" lang="th-TH">
                <a:solidFill>
                  <a:srgbClr val="142D3B"/>
                </a:solidFill>
                <a:latin typeface="TH Sarabun New"/>
                <a:ea typeface="TH Sarabun New"/>
                <a:cs typeface="TH Sarabun New"/>
              </a:defRPr>
            </a:pPr>
            <a:r>
              <a:t>เลือก adapter ของหุ่น</a:t>
            </a:r>
          </a:p>
          <a:p>
            <a:pPr algn="l">
              <a:lnSpc>
                <a:spcPct val="108000"/>
              </a:lnSpc>
              <a:spcAft>
                <a:spcPts val="0"/>
              </a:spcAft>
              <a:defRPr sz="2100" b="0" lang="th-TH">
                <a:solidFill>
                  <a:srgbClr val="142D3B"/>
                </a:solidFill>
                <a:latin typeface="TH Sarabun New"/>
                <a:ea typeface="TH Sarabun New"/>
                <a:cs typeface="TH Sarabun New"/>
              </a:defRPr>
            </a:pPr>
            <a:r>
              <a:t>ประสานฐานข้อมูล</a:t>
            </a:r>
          </a:p>
        </p:txBody>
      </p:sp>
      <p:sp>
        <p:nvSpPr>
          <p:cNvPr id="16" name="Rounded Rectangle 15"/>
          <p:cNvSpPr/>
          <p:nvPr/>
        </p:nvSpPr>
        <p:spPr>
          <a:xfrm>
            <a:off x="9131300" y="1905000"/>
            <a:ext cx="2451100" cy="14224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3700" y="2032000"/>
            <a:ext cx="21463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DATABASE</a:t>
            </a:r>
          </a:p>
        </p:txBody>
      </p:sp>
      <p:sp>
        <p:nvSpPr>
          <p:cNvPr id="18" name="TextBox 17"/>
          <p:cNvSpPr txBox="1"/>
          <p:nvPr/>
        </p:nvSpPr>
        <p:spPr>
          <a:xfrm>
            <a:off x="9283700" y="2565400"/>
            <a:ext cx="2146300" cy="6604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3. เก็บงานและเหตุการณ์</a:t>
            </a:r>
          </a:p>
          <a:p>
            <a:pPr algn="l">
              <a:lnSpc>
                <a:spcPct val="108000"/>
              </a:lnSpc>
              <a:spcAft>
                <a:spcPts val="0"/>
              </a:spcAft>
              <a:defRPr sz="2100" b="0" lang="th-TH">
                <a:solidFill>
                  <a:srgbClr val="142D3B"/>
                </a:solidFill>
                <a:latin typeface="TH Sarabun New"/>
                <a:ea typeface="TH Sarabun New"/>
                <a:cs typeface="TH Sarabun New"/>
              </a:defRPr>
            </a:pPr>
            <a:r>
              <a:t>PostgreSQL / Prisma</a:t>
            </a:r>
          </a:p>
        </p:txBody>
      </p:sp>
      <p:sp>
        <p:nvSpPr>
          <p:cNvPr id="19" name="Rounded Rectangle 18"/>
          <p:cNvSpPr/>
          <p:nvPr/>
        </p:nvSpPr>
        <p:spPr>
          <a:xfrm>
            <a:off x="9131300" y="4000500"/>
            <a:ext cx="2451100" cy="14224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3700" y="4127500"/>
            <a:ext cx="21463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HERMES</a:t>
            </a:r>
          </a:p>
        </p:txBody>
      </p:sp>
      <p:sp>
        <p:nvSpPr>
          <p:cNvPr id="21" name="TextBox 20"/>
          <p:cNvSpPr txBox="1"/>
          <p:nvPr/>
        </p:nvSpPr>
        <p:spPr>
          <a:xfrm>
            <a:off x="9283700" y="4660900"/>
            <a:ext cx="2146300" cy="6604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4. รับคำสั่ง REST</a:t>
            </a:r>
          </a:p>
          <a:p>
            <a:pPr algn="l">
              <a:lnSpc>
                <a:spcPct val="108000"/>
              </a:lnSpc>
              <a:spcAft>
                <a:spcPts val="0"/>
              </a:spcAft>
              <a:defRPr sz="2100" b="0" lang="th-TH">
                <a:solidFill>
                  <a:srgbClr val="142D3B"/>
                </a:solidFill>
                <a:latin typeface="TH Sarabun New"/>
                <a:ea typeface="TH Sarabun New"/>
                <a:cs typeface="TH Sarabun New"/>
              </a:defRPr>
            </a:pPr>
            <a:r>
              <a:t>ส่ง pose / battery / map</a:t>
            </a:r>
          </a:p>
        </p:txBody>
      </p:sp>
      <p:cxnSp>
        <p:nvCxnSpPr>
          <p:cNvPr id="22" name="Connector 21"/>
          <p:cNvCxnSpPr/>
          <p:nvPr/>
        </p:nvCxnSpPr>
        <p:spPr>
          <a:xfrm>
            <a:off x="3403600" y="2628900"/>
            <a:ext cx="1054100" cy="546100"/>
          </a:xfrm>
          <a:prstGeom prst="line">
            <a:avLst/>
          </a:prstGeom>
          <a:ln w="22860">
            <a:solidFill>
              <a:srgbClr val="52667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403600" y="4432300"/>
            <a:ext cx="1054100" cy="279400"/>
          </a:xfrm>
          <a:prstGeom prst="line">
            <a:avLst/>
          </a:prstGeom>
          <a:ln w="22860">
            <a:solidFill>
              <a:srgbClr val="52667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191500" y="2616200"/>
            <a:ext cx="914400" cy="647700"/>
          </a:xfrm>
          <a:prstGeom prst="line">
            <a:avLst/>
          </a:prstGeom>
          <a:ln w="22860">
            <a:solidFill>
              <a:srgbClr val="52667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191500" y="4470400"/>
            <a:ext cx="914400" cy="241300"/>
          </a:xfrm>
          <a:prstGeom prst="line">
            <a:avLst/>
          </a:prstGeom>
          <a:ln w="22860">
            <a:solidFill>
              <a:srgbClr val="526671"/>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09600" y="5651500"/>
            <a:ext cx="10972800" cy="495300"/>
          </a:xfrm>
          <a:prstGeom prst="roundRect">
            <a:avLst>
              <a:gd name="adj" fmla="val 10000"/>
            </a:avLst>
          </a:prstGeom>
          <a:solidFill>
            <a:srgbClr val="E4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7400" y="57150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087F80"/>
                </a:solidFill>
                <a:latin typeface="TH Sarabun New"/>
                <a:ea typeface="TH Sarabun New"/>
                <a:cs typeface="TH Sarabun New"/>
              </a:defRPr>
            </a:pPr>
            <a:r>
              <a:t>5. หุ่น → Backend → เว็บ: อัปเดตสถานะด้วย Socket.IO / HTTP fallback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WEBSITE · IMPLEMENTED FEATURES</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แผนที่ POI และการควบคุม: ทำส่วนไหนแล้ว</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06 / 19</a:t>
            </a:r>
          </a:p>
        </p:txBody>
      </p:sp>
      <p:sp>
        <p:nvSpPr>
          <p:cNvPr id="7" name="Rounded Rectangle 6"/>
          <p:cNvSpPr/>
          <p:nvPr/>
        </p:nvSpPr>
        <p:spPr>
          <a:xfrm>
            <a:off x="6096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MAP</a:t>
            </a:r>
          </a:p>
        </p:txBody>
      </p:sp>
      <p:sp>
        <p:nvSpPr>
          <p:cNvPr id="9" name="TextBox 8"/>
          <p:cNvSpPr txBox="1"/>
          <p:nvPr/>
        </p:nvSpPr>
        <p:spPr>
          <a:xfrm>
            <a:off x="8382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แสดงแผนที่สด</a:t>
            </a:r>
          </a:p>
        </p:txBody>
      </p:sp>
      <p:sp>
        <p:nvSpPr>
          <p:cNvPr id="10" name="TextBox 9"/>
          <p:cNvSpPr txBox="1"/>
          <p:nvPr/>
        </p:nvSpPr>
        <p:spPr>
          <a:xfrm>
            <a:off x="8382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SLAM grid / pose / LiDAR</a:t>
            </a:r>
          </a:p>
          <a:p>
            <a:pPr algn="l">
              <a:lnSpc>
                <a:spcPct val="108000"/>
              </a:lnSpc>
              <a:spcAft>
                <a:spcPts val="0"/>
              </a:spcAft>
              <a:defRPr sz="2400" b="0" lang="th-TH">
                <a:solidFill>
                  <a:srgbClr val="142D3B"/>
                </a:solidFill>
                <a:latin typeface="TH Sarabun New"/>
                <a:ea typeface="TH Sarabun New"/>
                <a:cs typeface="TH Sarabun New"/>
              </a:defRPr>
            </a:pPr>
            <a:r>
              <a:t>หุ่น / home / POI</a:t>
            </a:r>
          </a:p>
          <a:p>
            <a:pPr algn="l">
              <a:lnSpc>
                <a:spcPct val="108000"/>
              </a:lnSpc>
              <a:spcAft>
                <a:spcPts val="0"/>
              </a:spcAft>
              <a:defRPr sz="2400" b="0" lang="th-TH">
                <a:solidFill>
                  <a:srgbClr val="142D3B"/>
                </a:solidFill>
                <a:latin typeface="TH Sarabun New"/>
                <a:ea typeface="TH Sarabun New"/>
                <a:cs typeface="TH Sarabun New"/>
              </a:defRPr>
            </a:pPr>
            <a:r>
              <a:t>ซูม ลาก และเวลาอัปเดต</a:t>
            </a:r>
          </a:p>
        </p:txBody>
      </p:sp>
      <p:sp>
        <p:nvSpPr>
          <p:cNvPr id="11" name="Rounded Rectangle 10"/>
          <p:cNvSpPr/>
          <p:nvPr/>
        </p:nvSpPr>
        <p:spPr>
          <a:xfrm>
            <a:off x="43688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4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POI</a:t>
            </a:r>
          </a:p>
        </p:txBody>
      </p:sp>
      <p:sp>
        <p:nvSpPr>
          <p:cNvPr id="13" name="TextBox 12"/>
          <p:cNvSpPr txBox="1"/>
          <p:nvPr/>
        </p:nvSpPr>
        <p:spPr>
          <a:xfrm>
            <a:off x="45974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จัดการจุดหมาย</a:t>
            </a:r>
          </a:p>
        </p:txBody>
      </p:sp>
      <p:sp>
        <p:nvSpPr>
          <p:cNvPr id="14" name="TextBox 13"/>
          <p:cNvSpPr txBox="1"/>
          <p:nvPr/>
        </p:nvSpPr>
        <p:spPr>
          <a:xfrm>
            <a:off x="45974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ชื่อ / พิกัด / ทิศ / aliases</a:t>
            </a:r>
          </a:p>
          <a:p>
            <a:pPr algn="l">
              <a:lnSpc>
                <a:spcPct val="108000"/>
              </a:lnSpc>
              <a:spcAft>
                <a:spcPts val="0"/>
              </a:spcAft>
              <a:defRPr sz="2400" b="0" lang="th-TH">
                <a:solidFill>
                  <a:srgbClr val="142D3B"/>
                </a:solidFill>
                <a:latin typeface="TH Sarabun New"/>
                <a:ea typeface="TH Sarabun New"/>
                <a:cs typeface="TH Sarabun New"/>
              </a:defRPr>
            </a:pPr>
            <a:r>
              <a:t>เพิ่ม แก้ ลบทีละจุด</a:t>
            </a:r>
          </a:p>
          <a:p>
            <a:pPr algn="l">
              <a:lnSpc>
                <a:spcPct val="108000"/>
              </a:lnSpc>
              <a:spcAft>
                <a:spcPts val="0"/>
              </a:spcAft>
              <a:defRPr sz="2400" b="0" lang="th-TH">
                <a:solidFill>
                  <a:srgbClr val="142D3B"/>
                </a:solidFill>
                <a:latin typeface="TH Sarabun New"/>
                <a:ea typeface="TH Sarabun New"/>
                <a:cs typeface="TH Sarabun New"/>
              </a:defRPr>
            </a:pPr>
            <a:r>
              <a:t>อ่านกลับก่อนแจ้งสำเร็จ</a:t>
            </a:r>
          </a:p>
        </p:txBody>
      </p:sp>
      <p:sp>
        <p:nvSpPr>
          <p:cNvPr id="15" name="Rounded Rectangle 14"/>
          <p:cNvSpPr/>
          <p:nvPr/>
        </p:nvSpPr>
        <p:spPr>
          <a:xfrm>
            <a:off x="81280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CONTROL</a:t>
            </a:r>
          </a:p>
        </p:txBody>
      </p:sp>
      <p:sp>
        <p:nvSpPr>
          <p:cNvPr id="17" name="TextBox 16"/>
          <p:cNvSpPr txBox="1"/>
          <p:nvPr/>
        </p:nvSpPr>
        <p:spPr>
          <a:xfrm>
            <a:off x="83566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คำสั่งควบคุม</a:t>
            </a:r>
          </a:p>
        </p:txBody>
      </p:sp>
      <p:sp>
        <p:nvSpPr>
          <p:cNvPr id="18" name="TextBox 17"/>
          <p:cNvSpPr txBox="1"/>
          <p:nvPr/>
        </p:nvSpPr>
        <p:spPr>
          <a:xfrm>
            <a:off x="83566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joystick / นำทาง / กลับแท่น</a:t>
            </a:r>
          </a:p>
          <a:p>
            <a:pPr algn="l">
              <a:lnSpc>
                <a:spcPct val="108000"/>
              </a:lnSpc>
              <a:spcAft>
                <a:spcPts val="0"/>
              </a:spcAft>
              <a:defRPr sz="2400" b="0" lang="th-TH">
                <a:solidFill>
                  <a:srgbClr val="142D3B"/>
                </a:solidFill>
                <a:latin typeface="TH Sarabun New"/>
                <a:ea typeface="TH Sarabun New"/>
                <a:cs typeface="TH Sarabun New"/>
              </a:defRPr>
            </a:pPr>
            <a:r>
              <a:t>manual lock / halt / E-Stop</a:t>
            </a:r>
          </a:p>
          <a:p>
            <a:pPr algn="l">
              <a:lnSpc>
                <a:spcPct val="108000"/>
              </a:lnSpc>
              <a:spcAft>
                <a:spcPts val="0"/>
              </a:spcAft>
              <a:defRPr sz="2400" b="0" lang="th-TH">
                <a:solidFill>
                  <a:srgbClr val="142D3B"/>
                </a:solidFill>
                <a:latin typeface="TH Sarabun New"/>
                <a:ea typeface="TH Sarabun New"/>
                <a:cs typeface="TH Sarabun New"/>
              </a:defRPr>
            </a:pPr>
            <a:r>
              <a:t>Backend ตรวจสิทธิ์และสถานะ</a:t>
            </a:r>
          </a:p>
        </p:txBody>
      </p:sp>
      <p:sp>
        <p:nvSpPr>
          <p:cNvPr id="19" name="Rounded Rectangle 18"/>
          <p:cNvSpPr/>
          <p:nvPr/>
        </p:nvSpPr>
        <p:spPr>
          <a:xfrm>
            <a:off x="609600" y="5499100"/>
            <a:ext cx="10972800" cy="495300"/>
          </a:xfrm>
          <a:prstGeom prst="roundRect">
            <a:avLst>
              <a:gd name="adj" fmla="val 10000"/>
            </a:avLst>
          </a:prstGeom>
          <a:solidFill>
            <a:srgbClr val="E4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087F80"/>
                </a:solidFill>
                <a:latin typeface="TH Sarabun New"/>
                <a:ea typeface="TH Sarabun New"/>
                <a:cs typeface="TH Sarabun New"/>
              </a:defRPr>
            </a:pPr>
            <a:r>
              <a:t>การจัดการ POI ทำแล้ว · การแก้แผนที่และกำแพงเสมือนยังเป็นงานค้าง</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WEBSITE · REMAINING WORK</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Website: งานที่ยังค้างอยู่</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07 / 19</a:t>
            </a:r>
          </a:p>
        </p:txBody>
      </p:sp>
      <p:sp>
        <p:nvSpPr>
          <p:cNvPr id="7" name="Rounded Rectangle 6"/>
          <p:cNvSpPr/>
          <p:nvPr/>
        </p:nvSpPr>
        <p:spPr>
          <a:xfrm>
            <a:off x="6096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B95A26"/>
                </a:solidFill>
                <a:latin typeface="TH Sarabun New"/>
                <a:ea typeface="TH Sarabun New"/>
                <a:cs typeface="TH Sarabun New"/>
              </a:defRPr>
            </a:pPr>
            <a:r>
              <a:t>01 · UPLOAD</a:t>
            </a:r>
          </a:p>
        </p:txBody>
      </p:sp>
      <p:sp>
        <p:nvSpPr>
          <p:cNvPr id="9" name="TextBox 8"/>
          <p:cNvSpPr txBox="1"/>
          <p:nvPr/>
        </p:nvSpPr>
        <p:spPr>
          <a:xfrm>
            <a:off x="8382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อัปโหลดแผนที่</a:t>
            </a:r>
          </a:p>
        </p:txBody>
      </p:sp>
      <p:sp>
        <p:nvSpPr>
          <p:cNvPr id="10" name="TextBox 9"/>
          <p:cNvSpPr txBox="1"/>
          <p:nvPr/>
        </p:nvSpPr>
        <p:spPr>
          <a:xfrm>
            <a:off x="8382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รองรับไฟล์และตรวจความถูกต้อง</a:t>
            </a:r>
          </a:p>
          <a:p>
            <a:pPr algn="l">
              <a:lnSpc>
                <a:spcPct val="108000"/>
              </a:lnSpc>
              <a:spcAft>
                <a:spcPts val="0"/>
              </a:spcAft>
              <a:defRPr sz="2400" b="0" lang="th-TH">
                <a:solidFill>
                  <a:srgbClr val="142D3B"/>
                </a:solidFill>
                <a:latin typeface="TH Sarabun New"/>
                <a:ea typeface="TH Sarabun New"/>
                <a:cs typeface="TH Sarabun New"/>
              </a:defRPr>
            </a:pPr>
            <a:r>
              <a:t>เชื่อมการใช้แผนที่กับหุ่น</a:t>
            </a:r>
          </a:p>
          <a:p>
            <a:pPr algn="l">
              <a:lnSpc>
                <a:spcPct val="108000"/>
              </a:lnSpc>
              <a:spcAft>
                <a:spcPts val="0"/>
              </a:spcAft>
              <a:defRPr sz="2400" b="0" lang="th-TH">
                <a:solidFill>
                  <a:srgbClr val="142D3B"/>
                </a:solidFill>
                <a:latin typeface="TH Sarabun New"/>
                <a:ea typeface="TH Sarabun New"/>
                <a:cs typeface="TH Sarabun New"/>
              </a:defRPr>
            </a:pPr>
            <a:r>
              <a:t>อ่านกลับตรวจผลหลังอัปโหลด</a:t>
            </a:r>
          </a:p>
        </p:txBody>
      </p:sp>
      <p:sp>
        <p:nvSpPr>
          <p:cNvPr id="11" name="Rounded Rectangle 10"/>
          <p:cNvSpPr/>
          <p:nvPr/>
        </p:nvSpPr>
        <p:spPr>
          <a:xfrm>
            <a:off x="43688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4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B95A26"/>
                </a:solidFill>
                <a:latin typeface="TH Sarabun New"/>
                <a:ea typeface="TH Sarabun New"/>
                <a:cs typeface="TH Sarabun New"/>
              </a:defRPr>
            </a:pPr>
            <a:r>
              <a:t>02 · MAP EDIT</a:t>
            </a:r>
          </a:p>
        </p:txBody>
      </p:sp>
      <p:sp>
        <p:nvSpPr>
          <p:cNvPr id="13" name="TextBox 12"/>
          <p:cNvSpPr txBox="1"/>
          <p:nvPr/>
        </p:nvSpPr>
        <p:spPr>
          <a:xfrm>
            <a:off x="45974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แก้ไขแผนที่</a:t>
            </a:r>
          </a:p>
        </p:txBody>
      </p:sp>
      <p:sp>
        <p:nvSpPr>
          <p:cNvPr id="14" name="TextBox 13"/>
          <p:cNvSpPr txBox="1"/>
          <p:nvPr/>
        </p:nvSpPr>
        <p:spPr>
          <a:xfrm>
            <a:off x="45974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วาดกำแพงเสมือน</a:t>
            </a:r>
          </a:p>
          <a:p>
            <a:pPr algn="l">
              <a:lnSpc>
                <a:spcPct val="108000"/>
              </a:lnSpc>
              <a:spcAft>
                <a:spcPts val="0"/>
              </a:spcAft>
              <a:defRPr sz="2400" b="0" lang="th-TH">
                <a:solidFill>
                  <a:srgbClr val="142D3B"/>
                </a:solidFill>
                <a:latin typeface="TH Sarabun New"/>
                <a:ea typeface="TH Sarabun New"/>
                <a:cs typeface="TH Sarabun New"/>
              </a:defRPr>
            </a:pPr>
            <a:r>
              <a:t>กำหนดเขตห้ามผ่าน</a:t>
            </a:r>
          </a:p>
          <a:p>
            <a:pPr algn="l">
              <a:lnSpc>
                <a:spcPct val="108000"/>
              </a:lnSpc>
              <a:spcAft>
                <a:spcPts val="0"/>
              </a:spcAft>
              <a:defRPr sz="2400" b="0" lang="th-TH">
                <a:solidFill>
                  <a:srgbClr val="142D3B"/>
                </a:solidFill>
                <a:latin typeface="TH Sarabun New"/>
                <a:ea typeface="TH Sarabun New"/>
                <a:cs typeface="TH Sarabun New"/>
              </a:defRPr>
            </a:pPr>
            <a:r>
              <a:t>ใช้ข้อจำกัดกับการนำทางจริง</a:t>
            </a:r>
          </a:p>
        </p:txBody>
      </p:sp>
      <p:sp>
        <p:nvSpPr>
          <p:cNvPr id="15" name="Rounded Rectangle 14"/>
          <p:cNvSpPr/>
          <p:nvPr/>
        </p:nvSpPr>
        <p:spPr>
          <a:xfrm>
            <a:off x="81280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B95A26"/>
                </a:solidFill>
                <a:latin typeface="TH Sarabun New"/>
                <a:ea typeface="TH Sarabun New"/>
                <a:cs typeface="TH Sarabun New"/>
              </a:defRPr>
            </a:pPr>
            <a:r>
              <a:t>03 · ROBOT MODE</a:t>
            </a:r>
          </a:p>
        </p:txBody>
      </p:sp>
      <p:sp>
        <p:nvSpPr>
          <p:cNvPr id="17" name="TextBox 16"/>
          <p:cNvSpPr txBox="1"/>
          <p:nvPr/>
        </p:nvSpPr>
        <p:spPr>
          <a:xfrm>
            <a:off x="83566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โหมดของหุ่นยนต์</a:t>
            </a:r>
          </a:p>
        </p:txBody>
      </p:sp>
      <p:sp>
        <p:nvSpPr>
          <p:cNvPr id="18" name="TextBox 17"/>
          <p:cNvSpPr txBox="1"/>
          <p:nvPr/>
        </p:nvSpPr>
        <p:spPr>
          <a:xfrm>
            <a:off x="83566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เชื่อมโหมดปกติ / สำรวจ</a:t>
            </a:r>
          </a:p>
          <a:p>
            <a:pPr algn="l">
              <a:lnSpc>
                <a:spcPct val="108000"/>
              </a:lnSpc>
              <a:spcAft>
                <a:spcPts val="0"/>
              </a:spcAft>
              <a:defRPr sz="2400" b="0" lang="th-TH">
                <a:solidFill>
                  <a:srgbClr val="142D3B"/>
                </a:solidFill>
                <a:latin typeface="TH Sarabun New"/>
                <a:ea typeface="TH Sarabun New"/>
                <a:cs typeface="TH Sarabun New"/>
              </a:defRPr>
            </a:pPr>
            <a:r>
              <a:t>ยืนยันสถานะที่หุ่นตอบกลับ</a:t>
            </a:r>
          </a:p>
          <a:p>
            <a:pPr algn="l">
              <a:lnSpc>
                <a:spcPct val="108000"/>
              </a:lnSpc>
              <a:spcAft>
                <a:spcPts val="0"/>
              </a:spcAft>
              <a:defRPr sz="2400" b="0" lang="th-TH">
                <a:solidFill>
                  <a:srgbClr val="142D3B"/>
                </a:solidFill>
                <a:latin typeface="TH Sarabun New"/>
                <a:ea typeface="TH Sarabun New"/>
                <a:cs typeface="TH Sarabun New"/>
              </a:defRPr>
            </a:pPr>
            <a:r>
              <a:t>ควบคุมเริ่ม / จบการสร้างแผนที่</a:t>
            </a:r>
          </a:p>
        </p:txBody>
      </p:sp>
      <p:sp>
        <p:nvSpPr>
          <p:cNvPr id="19" name="Rounded Rectangle 18"/>
          <p:cNvSpPr/>
          <p:nvPr/>
        </p:nvSpPr>
        <p:spPr>
          <a:xfrm>
            <a:off x="609600" y="5499100"/>
            <a:ext cx="10972800" cy="495300"/>
          </a:xfrm>
          <a:prstGeom prst="roundRect">
            <a:avLst>
              <a:gd name="adj" fmla="val 10000"/>
            </a:avLst>
          </a:prstGeom>
          <a:solidFill>
            <a:srgbClr val="F9E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B95A26"/>
                </a:solidFill>
                <a:latin typeface="TH Sarabun New"/>
                <a:ea typeface="TH Sarabun New"/>
                <a:cs typeface="TH Sarabun New"/>
              </a:defRPr>
            </a:pPr>
            <a:r>
              <a:t>ตัวเลือกโหมดบนเว็บมีแล้ว · การเปลี่ยนโหมดจริงและตรวจรับยังค้าง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WEBSITE · VERIFICATION</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หลักฐานฝั่งระบบเว็บและ Backend</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08 / 19</a:t>
            </a:r>
          </a:p>
        </p:txBody>
      </p:sp>
      <p:sp>
        <p:nvSpPr>
          <p:cNvPr id="7" name="Rounded Rectangle 6"/>
          <p:cNvSpPr/>
          <p:nvPr/>
        </p:nvSpPr>
        <p:spPr>
          <a:xfrm>
            <a:off x="6096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52 TESTS</a:t>
            </a:r>
          </a:p>
        </p:txBody>
      </p:sp>
      <p:sp>
        <p:nvSpPr>
          <p:cNvPr id="9" name="TextBox 8"/>
          <p:cNvSpPr txBox="1"/>
          <p:nvPr/>
        </p:nvSpPr>
        <p:spPr>
          <a:xfrm>
            <a:off x="8382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Backend ระบบรวม</a:t>
            </a:r>
          </a:p>
        </p:txBody>
      </p:sp>
      <p:sp>
        <p:nvSpPr>
          <p:cNvPr id="10" name="TextBox 9"/>
          <p:cNvSpPr txBox="1"/>
          <p:nvPr/>
        </p:nvSpPr>
        <p:spPr>
          <a:xfrm>
            <a:off x="8382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API / session / สิทธิ์</a:t>
            </a:r>
          </a:p>
          <a:p>
            <a:pPr algn="l">
              <a:lnSpc>
                <a:spcPct val="108000"/>
              </a:lnSpc>
              <a:spcAft>
                <a:spcPts val="0"/>
              </a:spcAft>
              <a:defRPr sz="2400" b="0" lang="th-TH">
                <a:solidFill>
                  <a:srgbClr val="142D3B"/>
                </a:solidFill>
                <a:latin typeface="TH Sarabun New"/>
                <a:ea typeface="TH Sarabun New"/>
                <a:cs typeface="TH Sarabun New"/>
              </a:defRPr>
            </a:pPr>
            <a:r>
              <a:t>งาน / POI / แผนที่ / AI</a:t>
            </a:r>
          </a:p>
          <a:p>
            <a:pPr algn="l">
              <a:lnSpc>
                <a:spcPct val="108000"/>
              </a:lnSpc>
              <a:spcAft>
                <a:spcPts val="0"/>
              </a:spcAft>
              <a:defRPr sz="2400" b="0" lang="th-TH">
                <a:solidFill>
                  <a:srgbClr val="142D3B"/>
                </a:solidFill>
                <a:latin typeface="TH Sarabun New"/>
                <a:ea typeface="TH Sarabun New"/>
                <a:cs typeface="TH Sarabun New"/>
              </a:defRPr>
            </a:pPr>
            <a:r>
              <a:t>ผ่านตามผลที่บันทึกไว้</a:t>
            </a:r>
          </a:p>
        </p:txBody>
      </p:sp>
      <p:sp>
        <p:nvSpPr>
          <p:cNvPr id="11" name="Rounded Rectangle 10"/>
          <p:cNvSpPr/>
          <p:nvPr/>
        </p:nvSpPr>
        <p:spPr>
          <a:xfrm>
            <a:off x="43688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4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TYPECHECK</a:t>
            </a:r>
          </a:p>
        </p:txBody>
      </p:sp>
      <p:sp>
        <p:nvSpPr>
          <p:cNvPr id="13" name="TextBox 12"/>
          <p:cNvSpPr txBox="1"/>
          <p:nvPr/>
        </p:nvSpPr>
        <p:spPr>
          <a:xfrm>
            <a:off x="45974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ผ่านทุกส่วนหลัก</a:t>
            </a:r>
          </a:p>
        </p:txBody>
      </p:sp>
      <p:sp>
        <p:nvSpPr>
          <p:cNvPr id="14" name="TextBox 13"/>
          <p:cNvSpPr txBox="1"/>
          <p:nvPr/>
        </p:nvSpPr>
        <p:spPr>
          <a:xfrm>
            <a:off x="45974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Admin Website</a:t>
            </a:r>
          </a:p>
          <a:p>
            <a:pPr algn="l">
              <a:lnSpc>
                <a:spcPct val="108000"/>
              </a:lnSpc>
              <a:spcAft>
                <a:spcPts val="0"/>
              </a:spcAft>
              <a:defRPr sz="2400" b="0" lang="th-TH">
                <a:solidFill>
                  <a:srgbClr val="142D3B"/>
                </a:solidFill>
                <a:latin typeface="TH Sarabun New"/>
                <a:ea typeface="TH Sarabun New"/>
                <a:cs typeface="TH Sarabun New"/>
              </a:defRPr>
            </a:pPr>
            <a:r>
              <a:t>Robot Interface</a:t>
            </a:r>
          </a:p>
          <a:p>
            <a:pPr algn="l">
              <a:lnSpc>
                <a:spcPct val="108000"/>
              </a:lnSpc>
              <a:spcAft>
                <a:spcPts val="0"/>
              </a:spcAft>
              <a:defRPr sz="2400" b="0" lang="th-TH">
                <a:solidFill>
                  <a:srgbClr val="142D3B"/>
                </a:solidFill>
                <a:latin typeface="TH Sarabun New"/>
                <a:ea typeface="TH Sarabun New"/>
                <a:cs typeface="TH Sarabun New"/>
              </a:defRPr>
            </a:pPr>
            <a:r>
              <a:t>Backend</a:t>
            </a:r>
          </a:p>
        </p:txBody>
      </p:sp>
      <p:sp>
        <p:nvSpPr>
          <p:cNvPr id="15" name="Rounded Rectangle 14"/>
          <p:cNvSpPr/>
          <p:nvPr/>
        </p:nvSpPr>
        <p:spPr>
          <a:xfrm>
            <a:off x="81280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HARDWARE READ</a:t>
            </a:r>
          </a:p>
        </p:txBody>
      </p:sp>
      <p:sp>
        <p:nvSpPr>
          <p:cNvPr id="17" name="TextBox 16"/>
          <p:cNvSpPr txBox="1"/>
          <p:nvPr/>
        </p:nvSpPr>
        <p:spPr>
          <a:xfrm>
            <a:off x="83566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เคยตรวจอ่านจริง</a:t>
            </a:r>
          </a:p>
        </p:txBody>
      </p:sp>
      <p:sp>
        <p:nvSpPr>
          <p:cNvPr id="18" name="TextBox 17"/>
          <p:cNvSpPr txBox="1"/>
          <p:nvPr/>
        </p:nvSpPr>
        <p:spPr>
          <a:xfrm>
            <a:off x="83566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pose / battery / map</a:t>
            </a:r>
          </a:p>
          <a:p>
            <a:pPr algn="l">
              <a:lnSpc>
                <a:spcPct val="108000"/>
              </a:lnSpc>
              <a:spcAft>
                <a:spcPts val="0"/>
              </a:spcAft>
              <a:defRPr sz="2400" b="0" lang="th-TH">
                <a:solidFill>
                  <a:srgbClr val="142D3B"/>
                </a:solidFill>
                <a:latin typeface="TH Sarabun New"/>
                <a:ea typeface="TH Sarabun New"/>
                <a:cs typeface="TH Sarabun New"/>
              </a:defRPr>
            </a:pPr>
            <a:r>
              <a:t>LiDAR และ POI จริง</a:t>
            </a:r>
          </a:p>
          <a:p>
            <a:pPr algn="l">
              <a:lnSpc>
                <a:spcPct val="108000"/>
              </a:lnSpc>
              <a:spcAft>
                <a:spcPts val="0"/>
              </a:spcAft>
              <a:defRPr sz="2400" b="0" lang="th-TH">
                <a:solidFill>
                  <a:srgbClr val="142D3B"/>
                </a:solidFill>
                <a:latin typeface="TH Sarabun New"/>
                <a:ea typeface="TH Sarabun New"/>
                <a:cs typeface="TH Sarabun New"/>
              </a:defRPr>
            </a:pPr>
            <a:r>
              <a:t>การเคลื่อนที่ยังรอตรวจรับ</a:t>
            </a:r>
          </a:p>
        </p:txBody>
      </p:sp>
      <p:sp>
        <p:nvSpPr>
          <p:cNvPr id="19" name="Rounded Rectangle 18"/>
          <p:cNvSpPr/>
          <p:nvPr/>
        </p:nvSpPr>
        <p:spPr>
          <a:xfrm>
            <a:off x="609600" y="5499100"/>
            <a:ext cx="10972800" cy="495300"/>
          </a:xfrm>
          <a:prstGeom prst="roundRect">
            <a:avLst>
              <a:gd name="adj" fmla="val 10000"/>
            </a:avLst>
          </a:prstGeom>
          <a:solidFill>
            <a:srgbClr val="E4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087F80"/>
                </a:solidFill>
                <a:latin typeface="TH Sarabun New"/>
                <a:ea typeface="TH Sarabun New"/>
                <a:cs typeface="TH Sarabun New"/>
              </a:defRPr>
            </a:pPr>
            <a:r>
              <a:t>ใช้หลักฐานเดิม · ไม่ได้รัน tests หรือทดลองอุปกรณ์ใหม่ในการทำสไลด์นี้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AFC6CD"/>
                </a:solidFill>
                <a:latin typeface="TH Sarabun New"/>
                <a:ea typeface="TH Sarabun New"/>
                <a:cs typeface="TH Sarabun New"/>
              </a:defRPr>
            </a:pPr>
            <a:r>
              <a:t>PART 02 · AI</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FFFFFF"/>
                </a:solidFill>
                <a:latin typeface="TH Sarabun New"/>
                <a:ea typeface="TH Sarabun New"/>
                <a:cs typeface="TH Sarabun New"/>
              </a:defRPr>
            </a:pPr>
            <a:r>
              <a:t>ช่วงที่ 2 — ความคืบหน้าฝั่ง AI</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AFC6CD"/>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AFC6CD"/>
                </a:solidFill>
                <a:latin typeface="TH Sarabun New"/>
                <a:ea typeface="TH Sarabun New"/>
                <a:cs typeface="TH Sarabun New"/>
              </a:defRPr>
            </a:pPr>
            <a:r>
              <a:t>09 / 19</a:t>
            </a:r>
          </a:p>
        </p:txBody>
      </p:sp>
      <p:sp>
        <p:nvSpPr>
          <p:cNvPr id="7" name="TextBox 6"/>
          <p:cNvSpPr txBox="1"/>
          <p:nvPr/>
        </p:nvSpPr>
        <p:spPr>
          <a:xfrm>
            <a:off x="660400" y="2171700"/>
            <a:ext cx="10795000" cy="876300"/>
          </a:xfrm>
          <a:prstGeom prst="rect">
            <a:avLst/>
          </a:prstGeom>
          <a:noFill/>
        </p:spPr>
        <p:txBody>
          <a:bodyPr wrap="square" lIns="0" rIns="0" tIns="0" bIns="0" anchor="t">
            <a:spAutoFit/>
          </a:bodyPr>
          <a:lstStyle/>
          <a:p>
            <a:pPr algn="l">
              <a:lnSpc>
                <a:spcPct val="108000"/>
              </a:lnSpc>
              <a:spcAft>
                <a:spcPts val="0"/>
              </a:spcAft>
              <a:defRPr sz="4400" b="1" lang="th-TH">
                <a:solidFill>
                  <a:srgbClr val="FFFFFF"/>
                </a:solidFill>
                <a:latin typeface="TH Sarabun New"/>
                <a:ea typeface="TH Sarabun New"/>
                <a:cs typeface="TH Sarabun New"/>
              </a:defRPr>
            </a:pPr>
            <a:r>
              <a:t>AI local เชื่อม Robot Interface แล้ว</a:t>
            </a:r>
          </a:p>
        </p:txBody>
      </p:sp>
      <p:sp>
        <p:nvSpPr>
          <p:cNvPr id="8" name="TextBox 7"/>
          <p:cNvSpPr txBox="1"/>
          <p:nvPr/>
        </p:nvSpPr>
        <p:spPr>
          <a:xfrm>
            <a:off x="660400" y="3492500"/>
            <a:ext cx="10795000" cy="1257300"/>
          </a:xfrm>
          <a:prstGeom prst="rect">
            <a:avLst/>
          </a:prstGeom>
          <a:noFill/>
        </p:spPr>
        <p:txBody>
          <a:bodyPr wrap="square" lIns="0" rIns="0" tIns="0" bIns="0" anchor="t">
            <a:spAutoFit/>
          </a:bodyPr>
          <a:lstStyle/>
          <a:p>
            <a:pPr algn="l">
              <a:lnSpc>
                <a:spcPct val="108000"/>
              </a:lnSpc>
              <a:spcAft>
                <a:spcPts val="0"/>
              </a:spcAft>
              <a:defRPr sz="3300" b="0" lang="th-TH">
                <a:solidFill>
                  <a:srgbClr val="AFC6CD"/>
                </a:solidFill>
                <a:latin typeface="TH Sarabun New"/>
                <a:ea typeface="TH Sarabun New"/>
                <a:cs typeface="TH Sarabun New"/>
              </a:defRPr>
            </a:pPr>
            <a:r>
              <a:t>Rule-based + POI aliases</a:t>
            </a:r>
          </a:p>
          <a:p>
            <a:pPr algn="l">
              <a:lnSpc>
                <a:spcPct val="108000"/>
              </a:lnSpc>
              <a:spcAft>
                <a:spcPts val="0"/>
              </a:spcAft>
              <a:defRPr sz="3300" b="0" lang="th-TH">
                <a:solidFill>
                  <a:srgbClr val="AFC6CD"/>
                </a:solidFill>
                <a:latin typeface="TH Sarabun New"/>
                <a:ea typeface="TH Sarabun New"/>
                <a:cs typeface="TH Sarabun New"/>
              </a:defRPr>
            </a:pPr>
            <a:r>
              <a:t>LLM + Structured JSON + Backend validation</a:t>
            </a:r>
          </a:p>
        </p:txBody>
      </p:sp>
      <p:sp>
        <p:nvSpPr>
          <p:cNvPr id="9" name="TextBox 8"/>
          <p:cNvSpPr txBox="1"/>
          <p:nvPr/>
        </p:nvSpPr>
        <p:spPr>
          <a:xfrm>
            <a:off x="660400" y="5410200"/>
            <a:ext cx="10795000" cy="508000"/>
          </a:xfrm>
          <a:prstGeom prst="rect">
            <a:avLst/>
          </a:prstGeom>
          <a:noFill/>
        </p:spPr>
        <p:txBody>
          <a:bodyPr wrap="square" lIns="0" rIns="0" tIns="0" bIns="0" anchor="t">
            <a:spAutoFit/>
          </a:bodyPr>
          <a:lstStyle/>
          <a:p>
            <a:pPr algn="l">
              <a:lnSpc>
                <a:spcPct val="108000"/>
              </a:lnSpc>
              <a:spcAft>
                <a:spcPts val="0"/>
              </a:spcAft>
              <a:defRPr sz="2700" b="0" lang="th-TH">
                <a:solidFill>
                  <a:srgbClr val="AFC6CD"/>
                </a:solidFill>
                <a:latin typeface="TH Sarabun New"/>
                <a:ea typeface="TH Sarabun New"/>
                <a:cs typeface="TH Sarabun New"/>
              </a:defRPr>
            </a:pPr>
            <a:r>
              <a:t>Qwen3.5-2B Q5_K_M · llama-server · รันบน PC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METHODS &amp; CURRENT CAPABILITIES</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เทคนิคที่ใช้: Hybrid intent classification</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10 / 19</a:t>
            </a:r>
          </a:p>
        </p:txBody>
      </p:sp>
      <p:sp>
        <p:nvSpPr>
          <p:cNvPr id="7" name="Rounded Rectangle 6"/>
          <p:cNvSpPr/>
          <p:nvPr/>
        </p:nvSpPr>
        <p:spPr>
          <a:xfrm>
            <a:off x="609600" y="1955800"/>
            <a:ext cx="53086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159000"/>
            <a:ext cx="48514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METHOD 01 · ทำแล้ว</a:t>
            </a:r>
          </a:p>
        </p:txBody>
      </p:sp>
      <p:sp>
        <p:nvSpPr>
          <p:cNvPr id="9" name="TextBox 8"/>
          <p:cNvSpPr txBox="1"/>
          <p:nvPr/>
        </p:nvSpPr>
        <p:spPr>
          <a:xfrm>
            <a:off x="838200" y="2717800"/>
            <a:ext cx="48514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Rules + Dictionary</a:t>
            </a:r>
          </a:p>
        </p:txBody>
      </p:sp>
      <p:sp>
        <p:nvSpPr>
          <p:cNvPr id="10" name="TextBox 9"/>
          <p:cNvSpPr txBox="1"/>
          <p:nvPr/>
        </p:nvSpPr>
        <p:spPr>
          <a:xfrm>
            <a:off x="838200" y="3581400"/>
            <a:ext cx="48514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Regex แยกเจตนาของประโยค</a:t>
            </a:r>
          </a:p>
          <a:p>
            <a:pPr algn="l">
              <a:lnSpc>
                <a:spcPct val="108000"/>
              </a:lnSpc>
              <a:spcAft>
                <a:spcPts val="0"/>
              </a:spcAft>
              <a:defRPr sz="2400" b="0" lang="th-TH">
                <a:solidFill>
                  <a:srgbClr val="142D3B"/>
                </a:solidFill>
                <a:latin typeface="TH Sarabun New"/>
                <a:ea typeface="TH Sarabun New"/>
                <a:cs typeface="TH Sarabun New"/>
              </a:defRPr>
            </a:pPr>
            <a:r>
              <a:t>ชื่อ POI + aliases ที่บันทึกไว้</a:t>
            </a:r>
          </a:p>
          <a:p>
            <a:pPr algn="l">
              <a:lnSpc>
                <a:spcPct val="108000"/>
              </a:lnSpc>
              <a:spcAft>
                <a:spcPts val="0"/>
              </a:spcAft>
              <a:defRPr sz="2400" b="0" lang="th-TH">
                <a:solidFill>
                  <a:srgbClr val="142D3B"/>
                </a:solidFill>
                <a:latin typeface="TH Sarabun New"/>
                <a:ea typeface="TH Sarabun New"/>
                <a:cs typeface="TH Sarabun New"/>
              </a:defRPr>
            </a:pPr>
            <a:r>
              <a:t>คำขอชัดเจน → ไม่รอโมเดล</a:t>
            </a:r>
          </a:p>
        </p:txBody>
      </p:sp>
      <p:sp>
        <p:nvSpPr>
          <p:cNvPr id="11" name="Rounded Rectangle 10"/>
          <p:cNvSpPr/>
          <p:nvPr/>
        </p:nvSpPr>
        <p:spPr>
          <a:xfrm>
            <a:off x="6273800" y="1955800"/>
            <a:ext cx="53086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2400" y="2159000"/>
            <a:ext cx="48514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METHOD 02 · ทำแล้ว</a:t>
            </a:r>
          </a:p>
        </p:txBody>
      </p:sp>
      <p:sp>
        <p:nvSpPr>
          <p:cNvPr id="13" name="TextBox 12"/>
          <p:cNvSpPr txBox="1"/>
          <p:nvPr/>
        </p:nvSpPr>
        <p:spPr>
          <a:xfrm>
            <a:off x="6502400" y="2717800"/>
            <a:ext cx="48514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LLM + Structured output</a:t>
            </a:r>
          </a:p>
        </p:txBody>
      </p:sp>
      <p:sp>
        <p:nvSpPr>
          <p:cNvPr id="14" name="TextBox 13"/>
          <p:cNvSpPr txBox="1"/>
          <p:nvPr/>
        </p:nvSpPr>
        <p:spPr>
          <a:xfrm>
            <a:off x="6502400" y="3581400"/>
            <a:ext cx="48514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Prompt กำกับเจตนาและรายการจุดหมาย</a:t>
            </a:r>
          </a:p>
          <a:p>
            <a:pPr algn="l">
              <a:lnSpc>
                <a:spcPct val="108000"/>
              </a:lnSpc>
              <a:spcAft>
                <a:spcPts val="0"/>
              </a:spcAft>
              <a:defRPr sz="2400" b="0" lang="th-TH">
                <a:solidFill>
                  <a:srgbClr val="142D3B"/>
                </a:solidFill>
                <a:latin typeface="TH Sarabun New"/>
                <a:ea typeface="TH Sarabun New"/>
                <a:cs typeface="TH Sarabun New"/>
              </a:defRPr>
            </a:pPr>
            <a:r>
              <a:t>JSON Schema จำกัดรูปผลลัพธ์</a:t>
            </a:r>
          </a:p>
          <a:p>
            <a:pPr algn="l">
              <a:lnSpc>
                <a:spcPct val="108000"/>
              </a:lnSpc>
              <a:spcAft>
                <a:spcPts val="0"/>
              </a:spcAft>
              <a:defRPr sz="2400" b="0" lang="th-TH">
                <a:solidFill>
                  <a:srgbClr val="142D3B"/>
                </a:solidFill>
                <a:latin typeface="TH Sarabun New"/>
                <a:ea typeface="TH Sarabun New"/>
                <a:cs typeface="TH Sarabun New"/>
              </a:defRPr>
            </a:pPr>
            <a:r>
              <a:t>Zod + Backend ตรวจอีกชั้น</a:t>
            </a:r>
          </a:p>
        </p:txBody>
      </p:sp>
      <p:sp>
        <p:nvSpPr>
          <p:cNvPr id="15" name="Rounded Rectangle 14"/>
          <p:cNvSpPr/>
          <p:nvPr/>
        </p:nvSpPr>
        <p:spPr>
          <a:xfrm>
            <a:off x="609600" y="5499100"/>
            <a:ext cx="10972800" cy="495300"/>
          </a:xfrm>
          <a:prstGeom prst="roundRect">
            <a:avLst>
              <a:gd name="adj" fmla="val 10000"/>
            </a:avLst>
          </a:prstGeom>
          <a:solidFill>
            <a:srgbClr val="E4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087F80"/>
                </a:solidFill>
                <a:latin typeface="TH Sarabun New"/>
                <a:ea typeface="TH Sarabun New"/>
                <a:cs typeface="TH Sarabun New"/>
              </a:defRPr>
            </a:pPr>
            <a:r>
              <a:t>ไม่ฝึกโมเดลใหม่ · ไม่ให้โมเดลสร้างพิกัดหรือเรียก API หุ่นเอง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IMPLEMENTED PIPELINE</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ขั้นตอนจริง: ข้อความ → เจตนา → งานนำทาง</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11 / 19</a:t>
            </a:r>
          </a:p>
        </p:txBody>
      </p:sp>
      <p:sp>
        <p:nvSpPr>
          <p:cNvPr id="7" name="Rounded Rectangle 6"/>
          <p:cNvSpPr/>
          <p:nvPr/>
        </p:nvSpPr>
        <p:spPr>
          <a:xfrm>
            <a:off x="609600" y="2209800"/>
            <a:ext cx="2438400" cy="14351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2000" y="2336800"/>
            <a:ext cx="21336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1. ข้อความ</a:t>
            </a:r>
          </a:p>
        </p:txBody>
      </p:sp>
      <p:sp>
        <p:nvSpPr>
          <p:cNvPr id="9" name="TextBox 8"/>
          <p:cNvSpPr txBox="1"/>
          <p:nvPr/>
        </p:nvSpPr>
        <p:spPr>
          <a:xfrm>
            <a:off x="762000" y="2870200"/>
            <a:ext cx="2133600" cy="6731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ไทย / อังกฤษ</a:t>
            </a:r>
          </a:p>
        </p:txBody>
      </p:sp>
      <p:sp>
        <p:nvSpPr>
          <p:cNvPr id="10" name="Rounded Rectangle 9"/>
          <p:cNvSpPr/>
          <p:nvPr/>
        </p:nvSpPr>
        <p:spPr>
          <a:xfrm>
            <a:off x="3454400" y="2209800"/>
            <a:ext cx="2438400" cy="14351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6800" y="2336800"/>
            <a:ext cx="21336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2. ตีความ</a:t>
            </a:r>
          </a:p>
        </p:txBody>
      </p:sp>
      <p:sp>
        <p:nvSpPr>
          <p:cNvPr id="12" name="TextBox 11"/>
          <p:cNvSpPr txBox="1"/>
          <p:nvPr/>
        </p:nvSpPr>
        <p:spPr>
          <a:xfrm>
            <a:off x="3606800" y="2870200"/>
            <a:ext cx="2133600" cy="6731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Rules หรือ LLM</a:t>
            </a:r>
          </a:p>
        </p:txBody>
      </p:sp>
      <p:sp>
        <p:nvSpPr>
          <p:cNvPr id="13" name="Rounded Rectangle 12"/>
          <p:cNvSpPr/>
          <p:nvPr/>
        </p:nvSpPr>
        <p:spPr>
          <a:xfrm>
            <a:off x="6299200" y="2209800"/>
            <a:ext cx="2438400" cy="1435100"/>
          </a:xfrm>
          <a:prstGeom prst="roundRect">
            <a:avLst>
              <a:gd name="adj" fmla="val 10000"/>
            </a:avLst>
          </a:prstGeom>
          <a:solidFill>
            <a:srgbClr val="E4F1E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1600" y="2336800"/>
            <a:ext cx="21336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3. ตรวจผล</a:t>
            </a:r>
          </a:p>
        </p:txBody>
      </p:sp>
      <p:sp>
        <p:nvSpPr>
          <p:cNvPr id="15" name="TextBox 14"/>
          <p:cNvSpPr txBox="1"/>
          <p:nvPr/>
        </p:nvSpPr>
        <p:spPr>
          <a:xfrm>
            <a:off x="6451600" y="2870200"/>
            <a:ext cx="2133600" cy="6731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Schema / POI / สิทธิ์</a:t>
            </a:r>
          </a:p>
        </p:txBody>
      </p:sp>
      <p:sp>
        <p:nvSpPr>
          <p:cNvPr id="16" name="Rounded Rectangle 15"/>
          <p:cNvSpPr/>
          <p:nvPr/>
        </p:nvSpPr>
        <p:spPr>
          <a:xfrm>
            <a:off x="9144000" y="2209800"/>
            <a:ext cx="2438400" cy="14351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6400" y="2336800"/>
            <a:ext cx="21336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142D3B"/>
                </a:solidFill>
                <a:latin typeface="TH Sarabun New"/>
                <a:ea typeface="TH Sarabun New"/>
                <a:cs typeface="TH Sarabun New"/>
              </a:defRPr>
            </a:pPr>
            <a:r>
              <a:t>4. สร้างงาน</a:t>
            </a:r>
          </a:p>
        </p:txBody>
      </p:sp>
      <p:sp>
        <p:nvSpPr>
          <p:cNvPr id="18" name="TextBox 17"/>
          <p:cNvSpPr txBox="1"/>
          <p:nvPr/>
        </p:nvSpPr>
        <p:spPr>
          <a:xfrm>
            <a:off x="9296400" y="2870200"/>
            <a:ext cx="2133600" cy="6731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ใช้พิกัดจาก Backend</a:t>
            </a:r>
          </a:p>
        </p:txBody>
      </p:sp>
      <p:cxnSp>
        <p:nvCxnSpPr>
          <p:cNvPr id="19" name="Connector 18"/>
          <p:cNvCxnSpPr/>
          <p:nvPr/>
        </p:nvCxnSpPr>
        <p:spPr>
          <a:xfrm>
            <a:off x="3048000" y="2908300"/>
            <a:ext cx="355600" cy="0"/>
          </a:xfrm>
          <a:prstGeom prst="line">
            <a:avLst/>
          </a:prstGeom>
          <a:ln w="22860">
            <a:solidFill>
              <a:srgbClr val="52667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92800" y="2908300"/>
            <a:ext cx="355600" cy="0"/>
          </a:xfrm>
          <a:prstGeom prst="line">
            <a:avLst/>
          </a:prstGeom>
          <a:ln w="22860">
            <a:solidFill>
              <a:srgbClr val="52667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737600" y="2908300"/>
            <a:ext cx="355600" cy="0"/>
          </a:xfrm>
          <a:prstGeom prst="line">
            <a:avLst/>
          </a:prstGeom>
          <a:ln w="22860">
            <a:solidFill>
              <a:srgbClr val="526671"/>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09600" y="4025900"/>
            <a:ext cx="10972800" cy="13843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800" y="4152900"/>
            <a:ext cx="3835400" cy="457200"/>
          </a:xfrm>
          <a:prstGeom prst="rect">
            <a:avLst/>
          </a:prstGeom>
          <a:noFill/>
        </p:spPr>
        <p:txBody>
          <a:bodyPr wrap="square" lIns="0" rIns="0" tIns="0" bIns="0" anchor="t">
            <a:spAutoFit/>
          </a:bodyPr>
          <a:lstStyle/>
          <a:p>
            <a:pPr algn="l">
              <a:lnSpc>
                <a:spcPct val="108000"/>
              </a:lnSpc>
              <a:spcAft>
                <a:spcPts val="0"/>
              </a:spcAft>
              <a:defRPr sz="2700" b="1" lang="th-TH">
                <a:solidFill>
                  <a:srgbClr val="087F80"/>
                </a:solidFill>
                <a:latin typeface="TH Sarabun New"/>
                <a:ea typeface="TH Sarabun New"/>
                <a:cs typeface="TH Sarabun New"/>
              </a:defRPr>
            </a:pPr>
            <a:r>
              <a:t>ข้อมูลที่โมเดลคืน</a:t>
            </a:r>
          </a:p>
        </p:txBody>
      </p:sp>
      <p:sp>
        <p:nvSpPr>
          <p:cNvPr id="24" name="TextBox 23"/>
          <p:cNvSpPr txBox="1"/>
          <p:nvPr/>
        </p:nvSpPr>
        <p:spPr>
          <a:xfrm>
            <a:off x="812800" y="4813300"/>
            <a:ext cx="10541000" cy="457200"/>
          </a:xfrm>
          <a:prstGeom prst="rect">
            <a:avLst/>
          </a:prstGeom>
          <a:noFill/>
        </p:spPr>
        <p:txBody>
          <a:bodyPr wrap="square" lIns="0" rIns="0" tIns="0" bIns="0" anchor="t">
            <a:spAutoFit/>
          </a:bodyPr>
          <a:lstStyle/>
          <a:p>
            <a:pPr algn="l">
              <a:lnSpc>
                <a:spcPct val="108000"/>
              </a:lnSpc>
              <a:spcAft>
                <a:spcPts val="0"/>
              </a:spcAft>
              <a:defRPr sz="2500" b="0" lang="th-TH">
                <a:solidFill>
                  <a:srgbClr val="142D3B"/>
                </a:solidFill>
                <a:latin typeface="TH Sarabun New"/>
                <a:ea typeface="TH Sarabun New"/>
                <a:cs typeface="TH Sarabun New"/>
              </a:defRPr>
            </a:pPr>
            <a:r>
              <a:t>intent · confidence · poiCode · speechAct · needsClarification</a:t>
            </a:r>
          </a:p>
        </p:txBody>
      </p:sp>
      <p:sp>
        <p:nvSpPr>
          <p:cNvPr id="25" name="Rounded Rectangle 24"/>
          <p:cNvSpPr/>
          <p:nvPr/>
        </p:nvSpPr>
        <p:spPr>
          <a:xfrm>
            <a:off x="609600" y="5499100"/>
            <a:ext cx="10972800" cy="495300"/>
          </a:xfrm>
          <a:prstGeom prst="roundRect">
            <a:avLst>
              <a:gd name="adj" fmla="val 10000"/>
            </a:avLst>
          </a:prstGeom>
          <a:solidFill>
            <a:srgbClr val="E4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087F80"/>
                </a:solidFill>
                <a:latin typeface="TH Sarabun New"/>
                <a:ea typeface="TH Sarabun New"/>
                <a:cs typeface="TH Sarabun New"/>
              </a:defRPr>
            </a:pPr>
            <a:r>
              <a:t>คำปฏิเสธ / สมมติ / ชื่อกำกวม → ปฏิเสธหรือถามใหม่ ไม่สร้างงาน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RULE-BASED CLASSIFICATION</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เทคนิค 1: Normalize + Regex + POI aliases</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12 / 19</a:t>
            </a:r>
          </a:p>
        </p:txBody>
      </p:sp>
      <p:sp>
        <p:nvSpPr>
          <p:cNvPr id="7" name="Rounded Rectangle 6"/>
          <p:cNvSpPr/>
          <p:nvPr/>
        </p:nvSpPr>
        <p:spPr>
          <a:xfrm>
            <a:off x="609600" y="1968500"/>
            <a:ext cx="7175500" cy="3644900"/>
          </a:xfrm>
          <a:prstGeom prst="roundRect">
            <a:avLst>
              <a:gd name="adj" fmla="val 10000"/>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2108200"/>
            <a:ext cx="6769100" cy="393700"/>
          </a:xfrm>
          <a:prstGeom prst="rect">
            <a:avLst/>
          </a:prstGeom>
          <a:noFill/>
        </p:spPr>
        <p:txBody>
          <a:bodyPr wrap="square" lIns="0" rIns="0" tIns="0" bIns="0" anchor="t">
            <a:spAutoFit/>
          </a:bodyPr>
          <a:lstStyle/>
          <a:p>
            <a:pPr algn="l">
              <a:lnSpc>
                <a:spcPct val="108000"/>
              </a:lnSpc>
              <a:spcAft>
                <a:spcPts val="0"/>
              </a:spcAft>
              <a:defRPr sz="1900" b="1" lang="th-TH">
                <a:solidFill>
                  <a:srgbClr val="72D3C5"/>
                </a:solidFill>
                <a:latin typeface="TH Sarabun New"/>
                <a:ea typeface="TH Sarabun New"/>
                <a:cs typeface="TH Sarabun New"/>
              </a:defRPr>
            </a:pPr>
            <a:r>
              <a:t>robotIntent.ts · excerpt</a:t>
            </a:r>
          </a:p>
        </p:txBody>
      </p:sp>
      <p:sp>
        <p:nvSpPr>
          <p:cNvPr id="9" name="TextBox 8"/>
          <p:cNvSpPr txBox="1"/>
          <p:nvPr/>
        </p:nvSpPr>
        <p:spPr>
          <a:xfrm>
            <a:off x="812800" y="2641600"/>
            <a:ext cx="6769100" cy="2806700"/>
          </a:xfrm>
          <a:prstGeom prst="rect">
            <a:avLst/>
          </a:prstGeom>
          <a:noFill/>
        </p:spPr>
        <p:txBody>
          <a:bodyPr wrap="none" lIns="0" rIns="0" tIns="0" bIns="0">
            <a:spAutoFit/>
          </a:bodyPr>
          <a:lstStyle/>
          <a:p>
            <a:pPr>
              <a:lnSpc>
                <a:spcPct val="115000"/>
              </a:lnSpc>
              <a:spcAft>
                <a:spcPts val="0"/>
              </a:spcAft>
              <a:defRPr sz="1600">
                <a:solidFill>
                  <a:srgbClr val="FFFFFF"/>
                </a:solidFill>
                <a:latin typeface="Consolas"/>
              </a:defRPr>
            </a:pPr>
            <a:r>
              <a:t>const language = analyzeRobotLanguage(transcript);</a:t>
            </a:r>
          </a:p>
          <a:p>
            <a:pPr>
              <a:lnSpc>
                <a:spcPct val="115000"/>
              </a:lnSpc>
              <a:spcAft>
                <a:spcPts val="0"/>
              </a:spcAft>
              <a:defRPr sz="1600">
                <a:solidFill>
                  <a:srgbClr val="FFFFFF"/>
                </a:solidFill>
                <a:latin typeface="Consolas"/>
              </a:defRPr>
            </a:pPr>
            <a:r>
              <a:t>const matches = matchRobotDestinations(</a:t>
            </a:r>
          </a:p>
          <a:p>
            <a:pPr>
              <a:lnSpc>
                <a:spcPct val="115000"/>
              </a:lnSpc>
              <a:spcAft>
                <a:spcPts val="0"/>
              </a:spcAft>
              <a:defRPr sz="1600">
                <a:solidFill>
                  <a:srgbClr val="FFFFFF"/>
                </a:solidFill>
                <a:latin typeface="Consolas"/>
              </a:defRPr>
            </a:pPr>
            <a:r>
              <a:t>  transcript, catalog</a:t>
            </a:r>
          </a:p>
          <a:p>
            <a:pPr>
              <a:lnSpc>
                <a:spcPct val="115000"/>
              </a:lnSpc>
              <a:spcAft>
                <a:spcPts val="0"/>
              </a:spcAft>
              <a:defRPr sz="1600">
                <a:solidFill>
                  <a:srgbClr val="FFFFFF"/>
                </a:solidFill>
                <a:latin typeface="Consolas"/>
              </a:defRPr>
            </a:pPr>
            <a:r>
              <a:t>);</a:t>
            </a:r>
          </a:p>
          <a:p>
            <a:pPr>
              <a:lnSpc>
                <a:spcPct val="115000"/>
              </a:lnSpc>
              <a:spcAft>
                <a:spcPts val="0"/>
              </a:spcAft>
              <a:defRPr sz="1600">
                <a:solidFill>
                  <a:srgbClr val="FFFFFF"/>
                </a:solidFill>
                <a:latin typeface="Consolas"/>
              </a:defRPr>
            </a:pPr>
            <a:r>
              <a:t>if (language.stop) return rule('cancel_job');</a:t>
            </a:r>
          </a:p>
          <a:p>
            <a:pPr>
              <a:lnSpc>
                <a:spcPct val="115000"/>
              </a:lnSpc>
              <a:spcAft>
                <a:spcPts val="0"/>
              </a:spcAft>
              <a:defRPr sz="1600">
                <a:solidFill>
                  <a:srgbClr val="FFFFFF"/>
                </a:solidFill>
                <a:latin typeface="Consolas"/>
              </a:defRPr>
            </a:pPr>
            <a:r>
              <a:t>if (language.speechAct === 'request') {</a:t>
            </a:r>
          </a:p>
          <a:p>
            <a:pPr>
              <a:lnSpc>
                <a:spcPct val="115000"/>
              </a:lnSpc>
              <a:spcAft>
                <a:spcPts val="0"/>
              </a:spcAft>
              <a:defRPr sz="1600">
                <a:solidFill>
                  <a:srgbClr val="FFFFFF"/>
                </a:solidFill>
                <a:latin typeface="Consolas"/>
              </a:defRPr>
            </a:pPr>
            <a:r>
              <a:t>  if (matches.length === 1) {</a:t>
            </a:r>
          </a:p>
          <a:p>
            <a:pPr>
              <a:lnSpc>
                <a:spcPct val="115000"/>
              </a:lnSpc>
              <a:spcAft>
                <a:spcPts val="0"/>
              </a:spcAft>
              <a:defRPr sz="1600">
                <a:solidFill>
                  <a:srgbClr val="FFFFFF"/>
                </a:solidFill>
                <a:latin typeface="Consolas"/>
              </a:defRPr>
            </a:pPr>
            <a:r>
              <a:t>    return rule('navigate_to', matches[0].code);</a:t>
            </a:r>
          </a:p>
          <a:p>
            <a:pPr>
              <a:lnSpc>
                <a:spcPct val="115000"/>
              </a:lnSpc>
              <a:spcAft>
                <a:spcPts val="0"/>
              </a:spcAft>
              <a:defRPr sz="1600">
                <a:solidFill>
                  <a:srgbClr val="FFFFFF"/>
                </a:solidFill>
                <a:latin typeface="Consolas"/>
              </a:defRPr>
            </a:pPr>
            <a:r>
              <a:t>  }</a:t>
            </a:r>
          </a:p>
          <a:p>
            <a:pPr>
              <a:lnSpc>
                <a:spcPct val="115000"/>
              </a:lnSpc>
              <a:spcAft>
                <a:spcPts val="0"/>
              </a:spcAft>
              <a:defRPr sz="1600">
                <a:solidFill>
                  <a:srgbClr val="FFFFFF"/>
                </a:solidFill>
                <a:latin typeface="Consolas"/>
              </a:defRPr>
            </a:pPr>
            <a:r>
              <a:t>}</a:t>
            </a:r>
          </a:p>
        </p:txBody>
      </p:sp>
      <p:sp>
        <p:nvSpPr>
          <p:cNvPr id="10" name="TextBox 9"/>
          <p:cNvSpPr txBox="1"/>
          <p:nvPr/>
        </p:nvSpPr>
        <p:spPr>
          <a:xfrm>
            <a:off x="8191500" y="2070100"/>
            <a:ext cx="3390900" cy="546100"/>
          </a:xfrm>
          <a:prstGeom prst="rect">
            <a:avLst/>
          </a:prstGeom>
          <a:noFill/>
        </p:spPr>
        <p:txBody>
          <a:bodyPr wrap="square" lIns="0" rIns="0" tIns="0" bIns="0" anchor="t">
            <a:spAutoFit/>
          </a:bodyPr>
          <a:lstStyle/>
          <a:p>
            <a:pPr algn="l">
              <a:lnSpc>
                <a:spcPct val="108000"/>
              </a:lnSpc>
              <a:spcAft>
                <a:spcPts val="0"/>
              </a:spcAft>
              <a:defRPr sz="2900" b="1" lang="th-TH">
                <a:solidFill>
                  <a:srgbClr val="087F80"/>
                </a:solidFill>
                <a:latin typeface="TH Sarabun New"/>
                <a:ea typeface="TH Sarabun New"/>
                <a:cs typeface="TH Sarabun New"/>
              </a:defRPr>
            </a:pPr>
            <a:r>
              <a:t>อ่านโค้ดเป็น 3 ขั้น</a:t>
            </a:r>
          </a:p>
        </p:txBody>
      </p:sp>
      <p:sp>
        <p:nvSpPr>
          <p:cNvPr id="11" name="TextBox 10"/>
          <p:cNvSpPr txBox="1"/>
          <p:nvPr/>
        </p:nvSpPr>
        <p:spPr>
          <a:xfrm>
            <a:off x="8191500" y="2933700"/>
            <a:ext cx="3390900" cy="1955800"/>
          </a:xfrm>
          <a:prstGeom prst="rect">
            <a:avLst/>
          </a:prstGeom>
          <a:noFill/>
        </p:spPr>
        <p:txBody>
          <a:bodyPr wrap="square" lIns="0" rIns="0" tIns="0" bIns="0" anchor="t">
            <a:spAutoFit/>
          </a:bodyPr>
          <a:lstStyle/>
          <a:p>
            <a:pPr algn="l">
              <a:lnSpc>
                <a:spcPct val="108000"/>
              </a:lnSpc>
              <a:spcAft>
                <a:spcPts val="0"/>
              </a:spcAft>
              <a:defRPr sz="2500" b="0" lang="th-TH">
                <a:solidFill>
                  <a:srgbClr val="142D3B"/>
                </a:solidFill>
                <a:latin typeface="TH Sarabun New"/>
                <a:ea typeface="TH Sarabun New"/>
                <a:cs typeface="TH Sarabun New"/>
              </a:defRPr>
            </a:pPr>
            <a:r>
              <a:t>1. แยกเจตนาของข้อความ</a:t>
            </a:r>
          </a:p>
          <a:p>
            <a:pPr algn="l">
              <a:lnSpc>
                <a:spcPct val="108000"/>
              </a:lnSpc>
              <a:spcAft>
                <a:spcPts val="0"/>
              </a:spcAft>
              <a:defRPr sz="2500" b="0" lang="th-TH">
                <a:solidFill>
                  <a:srgbClr val="142D3B"/>
                </a:solidFill>
                <a:latin typeface="TH Sarabun New"/>
                <a:ea typeface="TH Sarabun New"/>
                <a:cs typeface="TH Sarabun New"/>
              </a:defRPr>
            </a:pPr>
            <a:r>
              <a:t>2. เทียบชื่อกับรายการ POI</a:t>
            </a:r>
          </a:p>
          <a:p>
            <a:pPr algn="l">
              <a:lnSpc>
                <a:spcPct val="108000"/>
              </a:lnSpc>
              <a:spcAft>
                <a:spcPts val="0"/>
              </a:spcAft>
              <a:defRPr sz="2500" b="0" lang="th-TH">
                <a:solidFill>
                  <a:srgbClr val="142D3B"/>
                </a:solidFill>
                <a:latin typeface="TH Sarabun New"/>
                <a:ea typeface="TH Sarabun New"/>
                <a:cs typeface="TH Sarabun New"/>
              </a:defRPr>
            </a:pPr>
            <a:r>
              <a:t>3. ชัดเจนจุดเดียว → คืนรหัส</a:t>
            </a:r>
          </a:p>
        </p:txBody>
      </p:sp>
      <p:sp>
        <p:nvSpPr>
          <p:cNvPr id="12" name="TextBox 11"/>
          <p:cNvSpPr txBox="1"/>
          <p:nvPr/>
        </p:nvSpPr>
        <p:spPr>
          <a:xfrm>
            <a:off x="609600" y="5727700"/>
            <a:ext cx="10972800" cy="368300"/>
          </a:xfrm>
          <a:prstGeom prst="rect">
            <a:avLst/>
          </a:prstGeom>
          <a:noFill/>
        </p:spPr>
        <p:txBody>
          <a:bodyPr wrap="square" lIns="0" rIns="0" tIns="0" bIns="0" anchor="t">
            <a:spAutoFit/>
          </a:bodyPr>
          <a:lstStyle/>
          <a:p>
            <a:pPr algn="l">
              <a:lnSpc>
                <a:spcPct val="108000"/>
              </a:lnSpc>
              <a:spcAft>
                <a:spcPts val="0"/>
              </a:spcAft>
              <a:defRPr sz="1900" b="0" lang="th-TH">
                <a:solidFill>
                  <a:srgbClr val="526671"/>
                </a:solidFill>
                <a:latin typeface="TH Sarabun New"/>
                <a:ea typeface="TH Sarabun New"/>
                <a:cs typeface="TH Sarabun New"/>
              </a:defRPr>
            </a:pPr>
            <a:r>
              <a:t>aliases เช่น ทางเข้า → หน้าประตู · ไม่ใช่การเดาจุดที่ไม่มีในรายการ</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STRUCTURED OUTPUT</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เทคนิค 2: บังคับรูปแบบ JSON และตรวจด้วย Zod</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13 / 19</a:t>
            </a:r>
          </a:p>
        </p:txBody>
      </p:sp>
      <p:sp>
        <p:nvSpPr>
          <p:cNvPr id="7" name="Rounded Rectangle 6"/>
          <p:cNvSpPr/>
          <p:nvPr/>
        </p:nvSpPr>
        <p:spPr>
          <a:xfrm>
            <a:off x="609600" y="1968500"/>
            <a:ext cx="7175500" cy="3403600"/>
          </a:xfrm>
          <a:prstGeom prst="roundRect">
            <a:avLst>
              <a:gd name="adj" fmla="val 10000"/>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2108200"/>
            <a:ext cx="6769100" cy="393700"/>
          </a:xfrm>
          <a:prstGeom prst="rect">
            <a:avLst/>
          </a:prstGeom>
          <a:noFill/>
        </p:spPr>
        <p:txBody>
          <a:bodyPr wrap="square" lIns="0" rIns="0" tIns="0" bIns="0" anchor="t">
            <a:spAutoFit/>
          </a:bodyPr>
          <a:lstStyle/>
          <a:p>
            <a:pPr algn="l">
              <a:lnSpc>
                <a:spcPct val="108000"/>
              </a:lnSpc>
              <a:spcAft>
                <a:spcPts val="0"/>
              </a:spcAft>
              <a:defRPr sz="1900" b="1" lang="th-TH">
                <a:solidFill>
                  <a:srgbClr val="72D3C5"/>
                </a:solidFill>
                <a:latin typeface="TH Sarabun New"/>
                <a:ea typeface="TH Sarabun New"/>
                <a:cs typeface="TH Sarabun New"/>
              </a:defRPr>
            </a:pPr>
            <a:r>
              <a:t>robotIntent.ts · outputSchema</a:t>
            </a:r>
          </a:p>
        </p:txBody>
      </p:sp>
      <p:sp>
        <p:nvSpPr>
          <p:cNvPr id="9" name="TextBox 8"/>
          <p:cNvSpPr txBox="1"/>
          <p:nvPr/>
        </p:nvSpPr>
        <p:spPr>
          <a:xfrm>
            <a:off x="812800" y="2641600"/>
            <a:ext cx="6769100" cy="2565400"/>
          </a:xfrm>
          <a:prstGeom prst="rect">
            <a:avLst/>
          </a:prstGeom>
          <a:noFill/>
        </p:spPr>
        <p:txBody>
          <a:bodyPr wrap="none" lIns="0" rIns="0" tIns="0" bIns="0">
            <a:spAutoFit/>
          </a:bodyPr>
          <a:lstStyle/>
          <a:p>
            <a:pPr>
              <a:lnSpc>
                <a:spcPct val="115000"/>
              </a:lnSpc>
              <a:spcAft>
                <a:spcPts val="0"/>
              </a:spcAft>
              <a:defRPr sz="1700">
                <a:solidFill>
                  <a:srgbClr val="FFFFFF"/>
                </a:solidFill>
                <a:latin typeface="Consolas"/>
              </a:defRPr>
            </a:pPr>
            <a:r>
              <a:t>const outputSchema = z.object({</a:t>
            </a:r>
          </a:p>
          <a:p>
            <a:pPr>
              <a:lnSpc>
                <a:spcPct val="115000"/>
              </a:lnSpc>
              <a:spcAft>
                <a:spcPts val="0"/>
              </a:spcAft>
              <a:defRPr sz="1700">
                <a:solidFill>
                  <a:srgbClr val="FFFFFF"/>
                </a:solidFill>
                <a:latin typeface="Consolas"/>
              </a:defRPr>
            </a:pPr>
            <a:r>
              <a:t>  intent: z.enum(intents),</a:t>
            </a:r>
          </a:p>
          <a:p>
            <a:pPr>
              <a:lnSpc>
                <a:spcPct val="115000"/>
              </a:lnSpc>
              <a:spcAft>
                <a:spcPts val="0"/>
              </a:spcAft>
              <a:defRPr sz="1700">
                <a:solidFill>
                  <a:srgbClr val="FFFFFF"/>
                </a:solidFill>
                <a:latin typeface="Consolas"/>
              </a:defRPr>
            </a:pPr>
            <a:r>
              <a:t>  confidence: z.number().min(0).max(1),</a:t>
            </a:r>
          </a:p>
          <a:p>
            <a:pPr>
              <a:lnSpc>
                <a:spcPct val="115000"/>
              </a:lnSpc>
              <a:spcAft>
                <a:spcPts val="0"/>
              </a:spcAft>
              <a:defRPr sz="1700">
                <a:solidFill>
                  <a:srgbClr val="FFFFFF"/>
                </a:solidFill>
                <a:latin typeface="Consolas"/>
              </a:defRPr>
            </a:pPr>
            <a:r>
              <a:t>  poiCode: z.string().nullable(),</a:t>
            </a:r>
          </a:p>
          <a:p>
            <a:pPr>
              <a:lnSpc>
                <a:spcPct val="115000"/>
              </a:lnSpc>
              <a:spcAft>
                <a:spcPts val="0"/>
              </a:spcAft>
              <a:defRPr sz="1700">
                <a:solidFill>
                  <a:srgbClr val="FFFFFF"/>
                </a:solidFill>
                <a:latin typeface="Consolas"/>
              </a:defRPr>
            </a:pPr>
            <a:r>
              <a:t>  speechAct: z.enum(speechActs),</a:t>
            </a:r>
          </a:p>
          <a:p>
            <a:pPr>
              <a:lnSpc>
                <a:spcPct val="115000"/>
              </a:lnSpc>
              <a:spcAft>
                <a:spcPts val="0"/>
              </a:spcAft>
              <a:defRPr sz="1700">
                <a:solidFill>
                  <a:srgbClr val="FFFFFF"/>
                </a:solidFill>
                <a:latin typeface="Consolas"/>
              </a:defRPr>
            </a:pPr>
            <a:r>
              <a:t>  needsClarification: z.boolean()</a:t>
            </a:r>
          </a:p>
          <a:p>
            <a:pPr>
              <a:lnSpc>
                <a:spcPct val="115000"/>
              </a:lnSpc>
              <a:spcAft>
                <a:spcPts val="0"/>
              </a:spcAft>
              <a:defRPr sz="1700">
                <a:solidFill>
                  <a:srgbClr val="FFFFFF"/>
                </a:solidFill>
                <a:latin typeface="Consolas"/>
              </a:defRPr>
            </a:pPr>
            <a:r>
              <a:t>}).strict();</a:t>
            </a:r>
          </a:p>
        </p:txBody>
      </p:sp>
      <p:sp>
        <p:nvSpPr>
          <p:cNvPr id="10" name="TextBox 9"/>
          <p:cNvSpPr txBox="1"/>
          <p:nvPr/>
        </p:nvSpPr>
        <p:spPr>
          <a:xfrm>
            <a:off x="8191500" y="2070100"/>
            <a:ext cx="3390900" cy="546100"/>
          </a:xfrm>
          <a:prstGeom prst="rect">
            <a:avLst/>
          </a:prstGeom>
          <a:noFill/>
        </p:spPr>
        <p:txBody>
          <a:bodyPr wrap="square" lIns="0" rIns="0" tIns="0" bIns="0" anchor="t">
            <a:spAutoFit/>
          </a:bodyPr>
          <a:lstStyle/>
          <a:p>
            <a:pPr algn="l">
              <a:lnSpc>
                <a:spcPct val="108000"/>
              </a:lnSpc>
              <a:spcAft>
                <a:spcPts val="0"/>
              </a:spcAft>
              <a:defRPr sz="2900" b="1" lang="th-TH">
                <a:solidFill>
                  <a:srgbClr val="087F80"/>
                </a:solidFill>
                <a:latin typeface="TH Sarabun New"/>
                <a:ea typeface="TH Sarabun New"/>
                <a:cs typeface="TH Sarabun New"/>
              </a:defRPr>
            </a:pPr>
            <a:r>
              <a:t>ผลที่คาดหวัง</a:t>
            </a:r>
          </a:p>
        </p:txBody>
      </p:sp>
      <p:sp>
        <p:nvSpPr>
          <p:cNvPr id="11" name="TextBox 10"/>
          <p:cNvSpPr txBox="1"/>
          <p:nvPr/>
        </p:nvSpPr>
        <p:spPr>
          <a:xfrm>
            <a:off x="8191500" y="2908300"/>
            <a:ext cx="3390900" cy="2082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intent = navigate_to</a:t>
            </a:r>
          </a:p>
          <a:p>
            <a:pPr algn="l">
              <a:lnSpc>
                <a:spcPct val="108000"/>
              </a:lnSpc>
              <a:spcAft>
                <a:spcPts val="0"/>
              </a:spcAft>
              <a:defRPr sz="2400" b="0" lang="th-TH">
                <a:solidFill>
                  <a:srgbClr val="142D3B"/>
                </a:solidFill>
                <a:latin typeface="TH Sarabun New"/>
                <a:ea typeface="TH Sarabun New"/>
                <a:cs typeface="TH Sarabun New"/>
              </a:defRPr>
            </a:pPr>
            <a:r>
              <a:t>poiCode = UUID ในรายการ</a:t>
            </a:r>
          </a:p>
          <a:p>
            <a:pPr algn="l">
              <a:lnSpc>
                <a:spcPct val="108000"/>
              </a:lnSpc>
              <a:spcAft>
                <a:spcPts val="0"/>
              </a:spcAft>
              <a:defRPr sz="2400" b="0" lang="th-TH">
                <a:solidFill>
                  <a:srgbClr val="142D3B"/>
                </a:solidFill>
                <a:latin typeface="TH Sarabun New"/>
                <a:ea typeface="TH Sarabun New"/>
                <a:cs typeface="TH Sarabun New"/>
              </a:defRPr>
            </a:pPr>
            <a:r>
              <a:t>speechAct = request</a:t>
            </a:r>
          </a:p>
          <a:p>
            <a:pPr algn="l">
              <a:lnSpc>
                <a:spcPct val="108000"/>
              </a:lnSpc>
              <a:spcAft>
                <a:spcPts val="0"/>
              </a:spcAft>
              <a:defRPr sz="2400" b="0" lang="th-TH">
                <a:solidFill>
                  <a:srgbClr val="142D3B"/>
                </a:solidFill>
                <a:latin typeface="TH Sarabun New"/>
                <a:ea typeface="TH Sarabun New"/>
                <a:cs typeface="TH Sarabun New"/>
              </a:defRPr>
            </a:pPr>
            <a:r>
              <a:t>needsClarification = false</a:t>
            </a:r>
          </a:p>
        </p:txBody>
      </p:sp>
      <p:sp>
        <p:nvSpPr>
          <p:cNvPr id="12" name="Rounded Rectangle 11"/>
          <p:cNvSpPr/>
          <p:nvPr/>
        </p:nvSpPr>
        <p:spPr>
          <a:xfrm>
            <a:off x="609600" y="5588000"/>
            <a:ext cx="10972800" cy="495300"/>
          </a:xfrm>
          <a:prstGeom prst="roundRect">
            <a:avLst>
              <a:gd name="adj" fmla="val 10000"/>
            </a:avLst>
          </a:prstGeom>
          <a:solidFill>
            <a:srgbClr val="E4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56515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087F80"/>
                </a:solidFill>
                <a:latin typeface="TH Sarabun New"/>
                <a:ea typeface="TH Sarabun New"/>
                <a:cs typeface="TH Sarabun New"/>
              </a:defRPr>
            </a:pPr>
            <a:r>
              <a:t>JSON Schema จำกัดรูปแบบ · Zod ตรวจผล · UUID ต้องมีอยู่ใน catalog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LOCAL LLM REQUEST</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การเรียกโมเดล: Prompt + Schema + ค่าควบคุม</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14 / 19</a:t>
            </a:r>
          </a:p>
        </p:txBody>
      </p:sp>
      <p:sp>
        <p:nvSpPr>
          <p:cNvPr id="7" name="Rounded Rectangle 6"/>
          <p:cNvSpPr/>
          <p:nvPr/>
        </p:nvSpPr>
        <p:spPr>
          <a:xfrm>
            <a:off x="609600" y="1968500"/>
            <a:ext cx="7175500" cy="3657600"/>
          </a:xfrm>
          <a:prstGeom prst="roundRect">
            <a:avLst>
              <a:gd name="adj" fmla="val 10000"/>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2108200"/>
            <a:ext cx="6769100" cy="393700"/>
          </a:xfrm>
          <a:prstGeom prst="rect">
            <a:avLst/>
          </a:prstGeom>
          <a:noFill/>
        </p:spPr>
        <p:txBody>
          <a:bodyPr wrap="square" lIns="0" rIns="0" tIns="0" bIns="0" anchor="t">
            <a:spAutoFit/>
          </a:bodyPr>
          <a:lstStyle/>
          <a:p>
            <a:pPr algn="l">
              <a:lnSpc>
                <a:spcPct val="108000"/>
              </a:lnSpc>
              <a:spcAft>
                <a:spcPts val="0"/>
              </a:spcAft>
              <a:defRPr sz="1900" b="1" lang="th-TH">
                <a:solidFill>
                  <a:srgbClr val="72D3C5"/>
                </a:solidFill>
                <a:latin typeface="TH Sarabun New"/>
                <a:ea typeface="TH Sarabun New"/>
                <a:cs typeface="TH Sarabun New"/>
              </a:defRPr>
            </a:pPr>
            <a:r>
              <a:t>robotIntent.ts · request body (ย่อ)</a:t>
            </a:r>
          </a:p>
        </p:txBody>
      </p:sp>
      <p:sp>
        <p:nvSpPr>
          <p:cNvPr id="9" name="TextBox 8"/>
          <p:cNvSpPr txBox="1"/>
          <p:nvPr/>
        </p:nvSpPr>
        <p:spPr>
          <a:xfrm>
            <a:off x="812800" y="2641600"/>
            <a:ext cx="6769100" cy="2819400"/>
          </a:xfrm>
          <a:prstGeom prst="rect">
            <a:avLst/>
          </a:prstGeom>
          <a:noFill/>
        </p:spPr>
        <p:txBody>
          <a:bodyPr wrap="none" lIns="0" rIns="0" tIns="0" bIns="0">
            <a:spAutoFit/>
          </a:bodyPr>
          <a:lstStyle/>
          <a:p>
            <a:pPr>
              <a:lnSpc>
                <a:spcPct val="115000"/>
              </a:lnSpc>
              <a:spcAft>
                <a:spcPts val="0"/>
              </a:spcAft>
              <a:defRPr sz="1600">
                <a:solidFill>
                  <a:srgbClr val="FFFFFF"/>
                </a:solidFill>
                <a:latin typeface="Consolas"/>
              </a:defRPr>
            </a:pPr>
            <a:r>
              <a:t>{</a:t>
            </a:r>
          </a:p>
          <a:p>
            <a:pPr>
              <a:lnSpc>
                <a:spcPct val="115000"/>
              </a:lnSpc>
              <a:spcAft>
                <a:spcPts val="0"/>
              </a:spcAft>
              <a:defRPr sz="1600">
                <a:solidFill>
                  <a:srgbClr val="FFFFFF"/>
                </a:solidFill>
                <a:latin typeface="Consolas"/>
              </a:defRPr>
            </a:pPr>
            <a:r>
              <a:t>  model: config.ai.model,</a:t>
            </a:r>
          </a:p>
          <a:p>
            <a:pPr>
              <a:lnSpc>
                <a:spcPct val="115000"/>
              </a:lnSpc>
              <a:spcAft>
                <a:spcPts val="0"/>
              </a:spcAft>
              <a:defRPr sz="1600">
                <a:solidFill>
                  <a:srgbClr val="FFFFFF"/>
                </a:solidFill>
                <a:latin typeface="Consolas"/>
              </a:defRPr>
            </a:pPr>
            <a:r>
              <a:t>  messages: [systemMessage, userMessage],</a:t>
            </a:r>
          </a:p>
          <a:p>
            <a:pPr>
              <a:lnSpc>
                <a:spcPct val="115000"/>
              </a:lnSpc>
              <a:spcAft>
                <a:spcPts val="0"/>
              </a:spcAft>
              <a:defRPr sz="1600">
                <a:solidFill>
                  <a:srgbClr val="FFFFFF"/>
                </a:solidFill>
                <a:latin typeface="Consolas"/>
              </a:defRPr>
            </a:pPr>
            <a:r>
              <a:t>  temperature: 0, seed: 42,</a:t>
            </a:r>
          </a:p>
          <a:p>
            <a:pPr>
              <a:lnSpc>
                <a:spcPct val="115000"/>
              </a:lnSpc>
              <a:spcAft>
                <a:spcPts val="0"/>
              </a:spcAft>
              <a:defRPr sz="1600">
                <a:solidFill>
                  <a:srgbClr val="FFFFFF"/>
                </a:solidFill>
                <a:latin typeface="Consolas"/>
              </a:defRPr>
            </a:pPr>
            <a:r>
              <a:t>  max_tokens: 256, stream: false,</a:t>
            </a:r>
          </a:p>
          <a:p>
            <a:pPr>
              <a:lnSpc>
                <a:spcPct val="115000"/>
              </a:lnSpc>
              <a:spcAft>
                <a:spcPts val="0"/>
              </a:spcAft>
              <a:defRPr sz="1600">
                <a:solidFill>
                  <a:srgbClr val="FFFFFF"/>
                </a:solidFill>
                <a:latin typeface="Consolas"/>
              </a:defRPr>
            </a:pPr>
            <a:r>
              <a:t>  response_format: {</a:t>
            </a:r>
          </a:p>
          <a:p>
            <a:pPr>
              <a:lnSpc>
                <a:spcPct val="115000"/>
              </a:lnSpc>
              <a:spcAft>
                <a:spcPts val="0"/>
              </a:spcAft>
              <a:defRPr sz="1600">
                <a:solidFill>
                  <a:srgbClr val="FFFFFF"/>
                </a:solidFill>
                <a:latin typeface="Consolas"/>
              </a:defRPr>
            </a:pPr>
            <a:r>
              <a:t>    type: 'json_schema', schema</a:t>
            </a:r>
          </a:p>
          <a:p>
            <a:pPr>
              <a:lnSpc>
                <a:spcPct val="115000"/>
              </a:lnSpc>
              <a:spcAft>
                <a:spcPts val="0"/>
              </a:spcAft>
              <a:defRPr sz="1600">
                <a:solidFill>
                  <a:srgbClr val="FFFFFF"/>
                </a:solidFill>
                <a:latin typeface="Consolas"/>
              </a:defRPr>
            </a:pPr>
            <a:r>
              <a:t>  },</a:t>
            </a:r>
          </a:p>
          <a:p>
            <a:pPr>
              <a:lnSpc>
                <a:spcPct val="115000"/>
              </a:lnSpc>
              <a:spcAft>
                <a:spcPts val="0"/>
              </a:spcAft>
              <a:defRPr sz="1600">
                <a:solidFill>
                  <a:srgbClr val="FFFFFF"/>
                </a:solidFill>
                <a:latin typeface="Consolas"/>
              </a:defRPr>
            </a:pPr>
            <a:r>
              <a:t>  chat_template_kwargs: { enable_thinking: false }</a:t>
            </a:r>
          </a:p>
          <a:p>
            <a:pPr>
              <a:lnSpc>
                <a:spcPct val="115000"/>
              </a:lnSpc>
              <a:spcAft>
                <a:spcPts val="0"/>
              </a:spcAft>
              <a:defRPr sz="1600">
                <a:solidFill>
                  <a:srgbClr val="FFFFFF"/>
                </a:solidFill>
                <a:latin typeface="Consolas"/>
              </a:defRPr>
            </a:pPr>
            <a:r>
              <a:t>}</a:t>
            </a:r>
          </a:p>
        </p:txBody>
      </p:sp>
      <p:sp>
        <p:nvSpPr>
          <p:cNvPr id="10" name="TextBox 9"/>
          <p:cNvSpPr txBox="1"/>
          <p:nvPr/>
        </p:nvSpPr>
        <p:spPr>
          <a:xfrm>
            <a:off x="8191500" y="2057400"/>
            <a:ext cx="3390900" cy="546100"/>
          </a:xfrm>
          <a:prstGeom prst="rect">
            <a:avLst/>
          </a:prstGeom>
          <a:noFill/>
        </p:spPr>
        <p:txBody>
          <a:bodyPr wrap="square" lIns="0" rIns="0" tIns="0" bIns="0" anchor="t">
            <a:spAutoFit/>
          </a:bodyPr>
          <a:lstStyle/>
          <a:p>
            <a:pPr algn="l">
              <a:lnSpc>
                <a:spcPct val="108000"/>
              </a:lnSpc>
              <a:spcAft>
                <a:spcPts val="0"/>
              </a:spcAft>
              <a:defRPr sz="2900" b="1" lang="th-TH">
                <a:solidFill>
                  <a:srgbClr val="087F80"/>
                </a:solidFill>
                <a:latin typeface="TH Sarabun New"/>
                <a:ea typeface="TH Sarabun New"/>
                <a:cs typeface="TH Sarabun New"/>
              </a:defRPr>
            </a:pPr>
            <a:r>
              <a:t>Prompt กำหนดอะไร</a:t>
            </a:r>
          </a:p>
        </p:txBody>
      </p:sp>
      <p:sp>
        <p:nvSpPr>
          <p:cNvPr id="11" name="TextBox 10"/>
          <p:cNvSpPr txBox="1"/>
          <p:nvPr/>
        </p:nvSpPr>
        <p:spPr>
          <a:xfrm>
            <a:off x="8191500" y="2857500"/>
            <a:ext cx="3390900" cy="21971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ประโยคสุภาพ = คำขอได้</a:t>
            </a:r>
          </a:p>
          <a:p>
            <a:pPr algn="l">
              <a:lnSpc>
                <a:spcPct val="108000"/>
              </a:lnSpc>
              <a:spcAft>
                <a:spcPts val="0"/>
              </a:spcAft>
              <a:defRPr sz="2400" b="0" lang="th-TH">
                <a:solidFill>
                  <a:srgbClr val="142D3B"/>
                </a:solidFill>
                <a:latin typeface="TH Sarabun New"/>
                <a:ea typeface="TH Sarabun New"/>
                <a:cs typeface="TH Sarabun New"/>
              </a:defRPr>
            </a:pPr>
            <a:r>
              <a:t>แยกคำถาม / ปฏิเสธ / สมมติ</a:t>
            </a:r>
          </a:p>
          <a:p>
            <a:pPr algn="l">
              <a:lnSpc>
                <a:spcPct val="108000"/>
              </a:lnSpc>
              <a:spcAft>
                <a:spcPts val="0"/>
              </a:spcAft>
              <a:defRPr sz="2400" b="0" lang="th-TH">
                <a:solidFill>
                  <a:srgbClr val="142D3B"/>
                </a:solidFill>
                <a:latin typeface="TH Sarabun New"/>
                <a:ea typeface="TH Sarabun New"/>
                <a:cs typeface="TH Sarabun New"/>
              </a:defRPr>
            </a:pPr>
            <a:r>
              <a:t>เลือกรหัสจาก POI ที่ให้เท่านั้น</a:t>
            </a:r>
          </a:p>
          <a:p>
            <a:pPr algn="l">
              <a:lnSpc>
                <a:spcPct val="108000"/>
              </a:lnSpc>
              <a:spcAft>
                <a:spcPts val="0"/>
              </a:spcAft>
              <a:defRPr sz="2400" b="0" lang="th-TH">
                <a:solidFill>
                  <a:srgbClr val="142D3B"/>
                </a:solidFill>
                <a:latin typeface="TH Sarabun New"/>
                <a:ea typeface="TH Sarabun New"/>
                <a:cs typeface="TH Sarabun New"/>
              </a:defRPr>
            </a:pPr>
            <a:r>
              <a:t>ชื่อไม่ชัดเจน → ขอข้อมูลเพิ่ม</a:t>
            </a:r>
          </a:p>
        </p:txBody>
      </p:sp>
      <p:sp>
        <p:nvSpPr>
          <p:cNvPr id="12" name="TextBox 11"/>
          <p:cNvSpPr txBox="1"/>
          <p:nvPr/>
        </p:nvSpPr>
        <p:spPr>
          <a:xfrm>
            <a:off x="609600" y="5727700"/>
            <a:ext cx="10972800" cy="368300"/>
          </a:xfrm>
          <a:prstGeom prst="rect">
            <a:avLst/>
          </a:prstGeom>
          <a:noFill/>
        </p:spPr>
        <p:txBody>
          <a:bodyPr wrap="square" lIns="0" rIns="0" tIns="0" bIns="0" anchor="t">
            <a:spAutoFit/>
          </a:bodyPr>
          <a:lstStyle/>
          <a:p>
            <a:pPr algn="l">
              <a:lnSpc>
                <a:spcPct val="108000"/>
              </a:lnSpc>
              <a:spcAft>
                <a:spcPts val="0"/>
              </a:spcAft>
              <a:defRPr sz="1800" b="0" lang="th-TH">
                <a:solidFill>
                  <a:srgbClr val="526671"/>
                </a:solidFill>
                <a:latin typeface="TH Sarabun New"/>
                <a:ea typeface="TH Sarabun New"/>
                <a:cs typeface="TH Sarabun New"/>
              </a:defRPr>
            </a:pPr>
            <a:r>
              <a:t>systemMessage / userMessage เป็นชื่อย่อบนสไลด์แทน objects ในโค้ดจริง</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VALIDATION BEFORE DISPATCH</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Backend validation: ไม่เชื่อผลโมเดลอย่างเดียว</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15 / 19</a:t>
            </a:r>
          </a:p>
        </p:txBody>
      </p:sp>
      <p:sp>
        <p:nvSpPr>
          <p:cNvPr id="7" name="Rounded Rectangle 6"/>
          <p:cNvSpPr/>
          <p:nvPr/>
        </p:nvSpPr>
        <p:spPr>
          <a:xfrm>
            <a:off x="609600" y="1968500"/>
            <a:ext cx="7175500" cy="3657600"/>
          </a:xfrm>
          <a:prstGeom prst="roundRect">
            <a:avLst>
              <a:gd name="adj" fmla="val 10000"/>
            </a:avLst>
          </a:prstGeom>
          <a:solidFill>
            <a:srgbClr val="14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2108200"/>
            <a:ext cx="6769100" cy="393700"/>
          </a:xfrm>
          <a:prstGeom prst="rect">
            <a:avLst/>
          </a:prstGeom>
          <a:noFill/>
        </p:spPr>
        <p:txBody>
          <a:bodyPr wrap="square" lIns="0" rIns="0" tIns="0" bIns="0" anchor="t">
            <a:spAutoFit/>
          </a:bodyPr>
          <a:lstStyle/>
          <a:p>
            <a:pPr algn="l">
              <a:lnSpc>
                <a:spcPct val="108000"/>
              </a:lnSpc>
              <a:spcAft>
                <a:spcPts val="0"/>
              </a:spcAft>
              <a:defRPr sz="1900" b="1" lang="th-TH">
                <a:solidFill>
                  <a:srgbClr val="72D3C5"/>
                </a:solidFill>
                <a:latin typeface="TH Sarabun New"/>
                <a:ea typeface="TH Sarabun New"/>
                <a:cs typeface="TH Sarabun New"/>
              </a:defRPr>
            </a:pPr>
            <a:r>
              <a:t>robotIntent.ts + robotAiService.ts · excerpts</a:t>
            </a:r>
          </a:p>
        </p:txBody>
      </p:sp>
      <p:sp>
        <p:nvSpPr>
          <p:cNvPr id="9" name="TextBox 8"/>
          <p:cNvSpPr txBox="1"/>
          <p:nvPr/>
        </p:nvSpPr>
        <p:spPr>
          <a:xfrm>
            <a:off x="812800" y="2641600"/>
            <a:ext cx="6769100" cy="2819400"/>
          </a:xfrm>
          <a:prstGeom prst="rect">
            <a:avLst/>
          </a:prstGeom>
          <a:noFill/>
        </p:spPr>
        <p:txBody>
          <a:bodyPr wrap="none" lIns="0" rIns="0" tIns="0" bIns="0">
            <a:spAutoFit/>
          </a:bodyPr>
          <a:lstStyle/>
          <a:p>
            <a:pPr>
              <a:lnSpc>
                <a:spcPct val="115000"/>
              </a:lnSpc>
              <a:spcAft>
                <a:spcPts val="0"/>
              </a:spcAft>
              <a:defRPr sz="1600">
                <a:solidFill>
                  <a:srgbClr val="FFFFFF"/>
                </a:solidFill>
                <a:latin typeface="Consolas"/>
              </a:defRPr>
            </a:pPr>
            <a:r>
              <a:t>const decision = outputSchema.parse(</a:t>
            </a:r>
          </a:p>
          <a:p>
            <a:pPr>
              <a:lnSpc>
                <a:spcPct val="115000"/>
              </a:lnSpc>
              <a:spcAft>
                <a:spcPts val="0"/>
              </a:spcAft>
              <a:defRPr sz="1600">
                <a:solidFill>
                  <a:srgbClr val="FFFFFF"/>
                </a:solidFill>
                <a:latin typeface="Consolas"/>
              </a:defRPr>
            </a:pPr>
            <a:r>
              <a:t>  JSON.parse(content)</a:t>
            </a:r>
          </a:p>
          <a:p>
            <a:pPr>
              <a:lnSpc>
                <a:spcPct val="115000"/>
              </a:lnSpc>
              <a:spcAft>
                <a:spcPts val="0"/>
              </a:spcAft>
              <a:defRPr sz="1600">
                <a:solidFill>
                  <a:srgbClr val="FFFFFF"/>
                </a:solidFill>
                <a:latin typeface="Consolas"/>
              </a:defRPr>
            </a:pPr>
            <a:r>
              <a:t>);</a:t>
            </a:r>
          </a:p>
          <a:p>
            <a:pPr>
              <a:lnSpc>
                <a:spcPct val="115000"/>
              </a:lnSpc>
              <a:spcAft>
                <a:spcPts val="0"/>
              </a:spcAft>
              <a:defRPr sz="1600">
                <a:solidFill>
                  <a:srgbClr val="FFFFFF"/>
                </a:solidFill>
                <a:latin typeface="Consolas"/>
              </a:defRPr>
            </a:pPr>
            <a:r>
              <a:t>if (decision.poiCode &amp;&amp; !catalog.some(</a:t>
            </a:r>
          </a:p>
          <a:p>
            <a:pPr>
              <a:lnSpc>
                <a:spcPct val="115000"/>
              </a:lnSpc>
              <a:spcAft>
                <a:spcPts val="0"/>
              </a:spcAft>
              <a:defRPr sz="1600">
                <a:solidFill>
                  <a:srgbClr val="FFFFFF"/>
                </a:solidFill>
                <a:latin typeface="Consolas"/>
              </a:defRPr>
            </a:pPr>
            <a:r>
              <a:t>  p =&gt; p.code === decision.poiCode</a:t>
            </a:r>
          </a:p>
          <a:p>
            <a:pPr>
              <a:lnSpc>
                <a:spcPct val="115000"/>
              </a:lnSpc>
              <a:spcAft>
                <a:spcPts val="0"/>
              </a:spcAft>
              <a:defRPr sz="1600">
                <a:solidFill>
                  <a:srgbClr val="FFFFFF"/>
                </a:solidFill>
                <a:latin typeface="Consolas"/>
              </a:defRPr>
            </a:pPr>
            <a:r>
              <a:t>)) throw new Error('Unknown POI');</a:t>
            </a:r>
          </a:p>
          <a:p>
            <a:pPr>
              <a:lnSpc>
                <a:spcPct val="115000"/>
              </a:lnSpc>
              <a:spcAft>
                <a:spcPts val="0"/>
              </a:spcAft>
              <a:defRPr sz="1600">
                <a:solidFill>
                  <a:srgbClr val="FFFFFF"/>
                </a:solidFill>
                <a:latin typeface="Consolas"/>
              </a:defRPr>
            </a:pPr>
          </a:p>
          <a:p>
            <a:pPr>
              <a:lnSpc>
                <a:spcPct val="115000"/>
              </a:lnSpc>
              <a:spcAft>
                <a:spcPts val="0"/>
              </a:spcAft>
              <a:defRPr sz="1600">
                <a:solidFill>
                  <a:srgbClr val="FFFFFF"/>
                </a:solidFill>
                <a:latin typeface="Consolas"/>
              </a:defRPr>
            </a:pPr>
            <a:r>
              <a:t>const dispatchMap = !dryRun &amp;&amp;</a:t>
            </a:r>
          </a:p>
          <a:p>
            <a:pPr>
              <a:lnSpc>
                <a:spcPct val="115000"/>
              </a:lnSpc>
              <a:spcAft>
                <a:spcPts val="0"/>
              </a:spcAft>
              <a:defRPr sz="1600">
                <a:solidFill>
                  <a:srgbClr val="FFFFFF"/>
                </a:solidFill>
                <a:latin typeface="Consolas"/>
              </a:defRPr>
            </a:pPr>
            <a:r>
              <a:t>  decision.intent !== 'where_is'</a:t>
            </a:r>
          </a:p>
          <a:p>
            <a:pPr>
              <a:lnSpc>
                <a:spcPct val="115000"/>
              </a:lnSpc>
              <a:spcAft>
                <a:spcPts val="0"/>
              </a:spcAft>
              <a:defRPr sz="1600">
                <a:solidFill>
                  <a:srgbClr val="FFFFFF"/>
                </a:solidFill>
                <a:latin typeface="Consolas"/>
              </a:defRPr>
            </a:pPr>
            <a:r>
              <a:t>  ? await dependencies.loadMap() : map;</a:t>
            </a:r>
          </a:p>
        </p:txBody>
      </p:sp>
      <p:sp>
        <p:nvSpPr>
          <p:cNvPr id="10" name="TextBox 9"/>
          <p:cNvSpPr txBox="1"/>
          <p:nvPr/>
        </p:nvSpPr>
        <p:spPr>
          <a:xfrm>
            <a:off x="8191500" y="2057400"/>
            <a:ext cx="3390900" cy="546100"/>
          </a:xfrm>
          <a:prstGeom prst="rect">
            <a:avLst/>
          </a:prstGeom>
          <a:noFill/>
        </p:spPr>
        <p:txBody>
          <a:bodyPr wrap="square" lIns="0" rIns="0" tIns="0" bIns="0" anchor="t">
            <a:spAutoFit/>
          </a:bodyPr>
          <a:lstStyle/>
          <a:p>
            <a:pPr algn="l">
              <a:lnSpc>
                <a:spcPct val="108000"/>
              </a:lnSpc>
              <a:spcAft>
                <a:spcPts val="0"/>
              </a:spcAft>
              <a:defRPr sz="2900" b="1" lang="th-TH">
                <a:solidFill>
                  <a:srgbClr val="087F80"/>
                </a:solidFill>
                <a:latin typeface="TH Sarabun New"/>
                <a:ea typeface="TH Sarabun New"/>
                <a:cs typeface="TH Sarabun New"/>
              </a:defRPr>
            </a:pPr>
            <a:r>
              <a:t>ก่อนส่งงานตรวจเพิ่ม</a:t>
            </a:r>
          </a:p>
        </p:txBody>
      </p:sp>
      <p:sp>
        <p:nvSpPr>
          <p:cNvPr id="11" name="TextBox 10"/>
          <p:cNvSpPr txBox="1"/>
          <p:nvPr/>
        </p:nvSpPr>
        <p:spPr>
          <a:xfrm>
            <a:off x="8191500" y="2857500"/>
            <a:ext cx="3390900" cy="21971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ชื่อจุดหมายชัดและสิทธิ์ผ่าน</a:t>
            </a:r>
          </a:p>
          <a:p>
            <a:pPr algn="l">
              <a:lnSpc>
                <a:spcPct val="108000"/>
              </a:lnSpc>
              <a:spcAft>
                <a:spcPts val="0"/>
              </a:spcAft>
              <a:defRPr sz="2400" b="0" lang="th-TH">
                <a:solidFill>
                  <a:srgbClr val="142D3B"/>
                </a:solidFill>
                <a:latin typeface="TH Sarabun New"/>
                <a:ea typeface="TH Sarabun New"/>
                <a:cs typeface="TH Sarabun New"/>
              </a:defRPr>
            </a:pPr>
            <a:r>
              <a:t>ไม่มีงาน / manual lock ขัดกัน</a:t>
            </a:r>
          </a:p>
          <a:p>
            <a:pPr algn="l">
              <a:lnSpc>
                <a:spcPct val="108000"/>
              </a:lnSpc>
              <a:spcAft>
                <a:spcPts val="0"/>
              </a:spcAft>
              <a:defRPr sz="2400" b="0" lang="th-TH">
                <a:solidFill>
                  <a:srgbClr val="142D3B"/>
                </a:solidFill>
                <a:latin typeface="TH Sarabun New"/>
                <a:ea typeface="TH Sarabun New"/>
                <a:cs typeface="TH Sarabun New"/>
              </a:defRPr>
            </a:pPr>
            <a:r>
              <a:t>แผนที่ใหม่และปิด mapping</a:t>
            </a:r>
          </a:p>
          <a:p>
            <a:pPr algn="l">
              <a:lnSpc>
                <a:spcPct val="108000"/>
              </a:lnSpc>
              <a:spcAft>
                <a:spcPts val="0"/>
              </a:spcAft>
              <a:defRPr sz="2400" b="0" lang="th-TH">
                <a:solidFill>
                  <a:srgbClr val="142D3B"/>
                </a:solidFill>
                <a:latin typeface="TH Sarabun New"/>
                <a:ea typeface="TH Sarabun New"/>
                <a:cs typeface="TH Sarabun New"/>
              </a:defRPr>
            </a:pPr>
            <a:r>
              <a:t>คุณภาพตำแหน่ง ≥ 50</a:t>
            </a:r>
          </a:p>
        </p:txBody>
      </p:sp>
      <p:sp>
        <p:nvSpPr>
          <p:cNvPr id="12" name="TextBox 11"/>
          <p:cNvSpPr txBox="1"/>
          <p:nvPr/>
        </p:nvSpPr>
        <p:spPr>
          <a:xfrm>
            <a:off x="609600" y="5727700"/>
            <a:ext cx="10972800" cy="368300"/>
          </a:xfrm>
          <a:prstGeom prst="rect">
            <a:avLst/>
          </a:prstGeom>
          <a:noFill/>
        </p:spPr>
        <p:txBody>
          <a:bodyPr wrap="square" lIns="0" rIns="0" tIns="0" bIns="0" anchor="t">
            <a:spAutoFit/>
          </a:bodyPr>
          <a:lstStyle/>
          <a:p>
            <a:pPr algn="l">
              <a:lnSpc>
                <a:spcPct val="108000"/>
              </a:lnSpc>
              <a:spcAft>
                <a:spcPts val="0"/>
              </a:spcAft>
              <a:defRPr sz="1900" b="0" lang="th-TH">
                <a:solidFill>
                  <a:srgbClr val="B95A26"/>
                </a:solidFill>
                <a:latin typeface="TH Sarabun New"/>
                <a:ea typeface="TH Sarabun New"/>
                <a:cs typeface="TH Sarabun New"/>
              </a:defRPr>
            </a:pPr>
            <a:r>
              <a:t>confidence ผ่านเกณฑ์อย่างเดียว ยังไม่เพียงพอสำหรับส่งคำสั่งเดิน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WORKED EXAMPLE</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ตัวอย่าง: ข้อความต่างสำนวนเลือก POI เดียวกัน</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16 / 19</a:t>
            </a:r>
          </a:p>
        </p:txBody>
      </p:sp>
      <p:sp>
        <p:nvSpPr>
          <p:cNvPr id="7" name="Rounded Rectangle 6"/>
          <p:cNvSpPr/>
          <p:nvPr/>
        </p:nvSpPr>
        <p:spPr>
          <a:xfrm>
            <a:off x="609600" y="1917700"/>
            <a:ext cx="6604000" cy="31242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2044700"/>
            <a:ext cx="6172200" cy="546100"/>
          </a:xfrm>
          <a:prstGeom prst="rect">
            <a:avLst/>
          </a:prstGeom>
          <a:noFill/>
        </p:spPr>
        <p:txBody>
          <a:bodyPr wrap="square" lIns="0" rIns="0" tIns="0" bIns="0" anchor="t">
            <a:spAutoFit/>
          </a:bodyPr>
          <a:lstStyle/>
          <a:p>
            <a:pPr algn="l">
              <a:lnSpc>
                <a:spcPct val="108000"/>
              </a:lnSpc>
              <a:spcAft>
                <a:spcPts val="0"/>
              </a:spcAft>
              <a:defRPr sz="2900" b="1" lang="th-TH">
                <a:solidFill>
                  <a:srgbClr val="087F80"/>
                </a:solidFill>
                <a:latin typeface="TH Sarabun New"/>
                <a:ea typeface="TH Sarabun New"/>
                <a:cs typeface="TH Sarabun New"/>
              </a:defRPr>
            </a:pPr>
            <a:r>
              <a:t>คำขอของผู้ใช้</a:t>
            </a:r>
          </a:p>
        </p:txBody>
      </p:sp>
      <p:sp>
        <p:nvSpPr>
          <p:cNvPr id="9" name="TextBox 8"/>
          <p:cNvSpPr txBox="1"/>
          <p:nvPr/>
        </p:nvSpPr>
        <p:spPr>
          <a:xfrm>
            <a:off x="825500" y="2921000"/>
            <a:ext cx="6172200" cy="1816100"/>
          </a:xfrm>
          <a:prstGeom prst="rect">
            <a:avLst/>
          </a:prstGeom>
          <a:noFill/>
        </p:spPr>
        <p:txBody>
          <a:bodyPr wrap="square" lIns="0" rIns="0" tIns="0" bIns="0" anchor="t">
            <a:spAutoFit/>
          </a:bodyPr>
          <a:lstStyle/>
          <a:p>
            <a:pPr algn="l">
              <a:lnSpc>
                <a:spcPct val="108000"/>
              </a:lnSpc>
              <a:spcAft>
                <a:spcPts val="0"/>
              </a:spcAft>
              <a:defRPr sz="2700" b="0" lang="th-TH">
                <a:solidFill>
                  <a:srgbClr val="142D3B"/>
                </a:solidFill>
                <a:latin typeface="TH Sarabun New"/>
                <a:ea typeface="TH Sarabun New"/>
                <a:cs typeface="TH Sarabun New"/>
              </a:defRPr>
            </a:pPr>
            <a:r>
              <a:t>“ช่วยพาไปที่หน้าประตูหน่อย”</a:t>
            </a:r>
          </a:p>
          <a:p>
            <a:pPr algn="l">
              <a:lnSpc>
                <a:spcPct val="108000"/>
              </a:lnSpc>
              <a:spcAft>
                <a:spcPts val="0"/>
              </a:spcAft>
              <a:defRPr sz="2700" b="0" lang="th-TH">
                <a:solidFill>
                  <a:srgbClr val="142D3B"/>
                </a:solidFill>
                <a:latin typeface="TH Sarabun New"/>
                <a:ea typeface="TH Sarabun New"/>
                <a:cs typeface="TH Sarabun New"/>
              </a:defRPr>
            </a:pPr>
            <a:r>
              <a:t>“ไปส่งที่หน้าประตูได้ไหมครับ”</a:t>
            </a:r>
          </a:p>
          <a:p>
            <a:pPr algn="l">
              <a:lnSpc>
                <a:spcPct val="108000"/>
              </a:lnSpc>
              <a:spcAft>
                <a:spcPts val="0"/>
              </a:spcAft>
              <a:defRPr sz="2700" b="0" lang="th-TH">
                <a:solidFill>
                  <a:srgbClr val="142D3B"/>
                </a:solidFill>
                <a:latin typeface="TH Sarabun New"/>
                <a:ea typeface="TH Sarabun New"/>
                <a:cs typeface="TH Sarabun New"/>
              </a:defRPr>
            </a:pPr>
            <a:r>
              <a:t>“หน้าประตูคือจุดหมายของผม</a:t>
            </a:r>
          </a:p>
          <a:p>
            <a:pPr algn="l">
              <a:lnSpc>
                <a:spcPct val="108000"/>
              </a:lnSpc>
              <a:spcAft>
                <a:spcPts val="0"/>
              </a:spcAft>
              <a:defRPr sz="2700" b="0" lang="th-TH">
                <a:solidFill>
                  <a:srgbClr val="142D3B"/>
                </a:solidFill>
                <a:latin typeface="TH Sarabun New"/>
                <a:ea typeface="TH Sarabun New"/>
                <a:cs typeface="TH Sarabun New"/>
              </a:defRPr>
            </a:pPr>
            <a:r>
              <a:t>คุณช่วยไปส่งผมที่นั่นได้ไหม”</a:t>
            </a:r>
          </a:p>
        </p:txBody>
      </p:sp>
      <p:sp>
        <p:nvSpPr>
          <p:cNvPr id="10" name="Rounded Rectangle 9"/>
          <p:cNvSpPr/>
          <p:nvPr/>
        </p:nvSpPr>
        <p:spPr>
          <a:xfrm>
            <a:off x="8153400" y="2311400"/>
            <a:ext cx="3429000" cy="2501900"/>
          </a:xfrm>
          <a:prstGeom prst="roundRect">
            <a:avLst>
              <a:gd name="adj" fmla="val 10000"/>
            </a:avLst>
          </a:prstGeom>
          <a:solidFill>
            <a:srgbClr val="E4F1E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5800" y="2438400"/>
            <a:ext cx="3124200" cy="431800"/>
          </a:xfrm>
          <a:prstGeom prst="rect">
            <a:avLst/>
          </a:prstGeom>
          <a:noFill/>
        </p:spPr>
        <p:txBody>
          <a:bodyPr wrap="square" lIns="0" rIns="0" tIns="0" bIns="0" anchor="t">
            <a:spAutoFit/>
          </a:bodyPr>
          <a:lstStyle/>
          <a:p>
            <a:pPr algn="l">
              <a:lnSpc>
                <a:spcPct val="108000"/>
              </a:lnSpc>
              <a:spcAft>
                <a:spcPts val="0"/>
              </a:spcAft>
              <a:defRPr sz="2500" b="1" lang="th-TH">
                <a:solidFill>
                  <a:srgbClr val="087F80"/>
                </a:solidFill>
                <a:latin typeface="TH Sarabun New"/>
                <a:ea typeface="TH Sarabun New"/>
                <a:cs typeface="TH Sarabun New"/>
              </a:defRPr>
            </a:pPr>
            <a:r>
              <a:t>ผลตีความ</a:t>
            </a:r>
          </a:p>
        </p:txBody>
      </p:sp>
      <p:sp>
        <p:nvSpPr>
          <p:cNvPr id="12" name="TextBox 11"/>
          <p:cNvSpPr txBox="1"/>
          <p:nvPr/>
        </p:nvSpPr>
        <p:spPr>
          <a:xfrm>
            <a:off x="8305800" y="2971800"/>
            <a:ext cx="3124200" cy="1739900"/>
          </a:xfrm>
          <a:prstGeom prst="rect">
            <a:avLst/>
          </a:prstGeom>
          <a:noFill/>
        </p:spPr>
        <p:txBody>
          <a:bodyPr wrap="square" lIns="0" rIns="0" tIns="0" bIns="0" anchor="t">
            <a:spAutoFit/>
          </a:bodyPr>
          <a:lstStyle/>
          <a:p>
            <a:pPr algn="l">
              <a:lnSpc>
                <a:spcPct val="108000"/>
              </a:lnSpc>
              <a:spcAft>
                <a:spcPts val="0"/>
              </a:spcAft>
              <a:defRPr sz="2100" b="0" lang="th-TH">
                <a:solidFill>
                  <a:srgbClr val="142D3B"/>
                </a:solidFill>
                <a:latin typeface="TH Sarabun New"/>
                <a:ea typeface="TH Sarabun New"/>
                <a:cs typeface="TH Sarabun New"/>
              </a:defRPr>
            </a:pPr>
            <a:r>
              <a:t>intent: navigate_to</a:t>
            </a:r>
          </a:p>
          <a:p>
            <a:pPr algn="l">
              <a:lnSpc>
                <a:spcPct val="108000"/>
              </a:lnSpc>
              <a:spcAft>
                <a:spcPts val="0"/>
              </a:spcAft>
              <a:defRPr sz="2100" b="0" lang="th-TH">
                <a:solidFill>
                  <a:srgbClr val="142D3B"/>
                </a:solidFill>
                <a:latin typeface="TH Sarabun New"/>
                <a:ea typeface="TH Sarabun New"/>
                <a:cs typeface="TH Sarabun New"/>
              </a:defRPr>
            </a:pPr>
            <a:r>
              <a:t>poiCode: UUID ของหน้าประตู</a:t>
            </a:r>
          </a:p>
          <a:p>
            <a:pPr algn="l">
              <a:lnSpc>
                <a:spcPct val="108000"/>
              </a:lnSpc>
              <a:spcAft>
                <a:spcPts val="0"/>
              </a:spcAft>
              <a:defRPr sz="2100" b="0" lang="th-TH">
                <a:solidFill>
                  <a:srgbClr val="142D3B"/>
                </a:solidFill>
                <a:latin typeface="TH Sarabun New"/>
                <a:ea typeface="TH Sarabun New"/>
                <a:cs typeface="TH Sarabun New"/>
              </a:defRPr>
            </a:pPr>
            <a:r>
              <a:t>speechAct: request</a:t>
            </a:r>
          </a:p>
        </p:txBody>
      </p:sp>
      <p:cxnSp>
        <p:nvCxnSpPr>
          <p:cNvPr id="13" name="Connector 12"/>
          <p:cNvCxnSpPr/>
          <p:nvPr/>
        </p:nvCxnSpPr>
        <p:spPr>
          <a:xfrm>
            <a:off x="7213600" y="3556000"/>
            <a:ext cx="914400" cy="0"/>
          </a:xfrm>
          <a:prstGeom prst="line">
            <a:avLst/>
          </a:prstGeom>
          <a:ln w="22860">
            <a:solidFill>
              <a:srgbClr val="526671"/>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9600" y="5499100"/>
            <a:ext cx="10972800" cy="495300"/>
          </a:xfrm>
          <a:prstGeom prst="roundRect">
            <a:avLst>
              <a:gd name="adj" fmla="val 10000"/>
            </a:avLst>
          </a:prstGeom>
          <a:solidFill>
            <a:srgbClr val="E4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087F80"/>
                </a:solidFill>
                <a:latin typeface="TH Sarabun New"/>
                <a:ea typeface="TH Sarabun New"/>
                <a:cs typeface="TH Sarabun New"/>
              </a:defRPr>
            </a:pPr>
            <a:r>
              <a:t>“หน้าประตูอยู่ไหน” → ตอบข้อมูล · “อย่าเพิ่งไป” → ไม่ส่งคำสั่งเดิน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RECORDED BENCHMARK</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ผล benchmark: วัดการตีความและ policy ร่วมกัน</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17 / 19</a:t>
            </a:r>
          </a:p>
        </p:txBody>
      </p:sp>
      <p:sp>
        <p:nvSpPr>
          <p:cNvPr id="7" name="TextBox 6"/>
          <p:cNvSpPr txBox="1"/>
          <p:nvPr/>
        </p:nvSpPr>
        <p:spPr>
          <a:xfrm>
            <a:off x="609600" y="1943100"/>
            <a:ext cx="2857500" cy="508000"/>
          </a:xfrm>
          <a:prstGeom prst="rect">
            <a:avLst/>
          </a:prstGeom>
          <a:noFill/>
        </p:spPr>
        <p:txBody>
          <a:bodyPr wrap="square" lIns="0" rIns="0" tIns="0" bIns="0" anchor="t">
            <a:spAutoFit/>
          </a:bodyPr>
          <a:lstStyle/>
          <a:p>
            <a:pPr algn="l">
              <a:lnSpc>
                <a:spcPct val="108000"/>
              </a:lnSpc>
              <a:spcAft>
                <a:spcPts val="0"/>
              </a:spcAft>
              <a:defRPr sz="2700" b="1" lang="th-TH">
                <a:solidFill>
                  <a:srgbClr val="142D3B"/>
                </a:solidFill>
                <a:latin typeface="TH Sarabun New"/>
                <a:ea typeface="TH Sarabun New"/>
                <a:cs typeface="TH Sarabun New"/>
              </a:defRPr>
            </a:pPr>
            <a:r>
              <a:t>ก่อนปรับ</a:t>
            </a:r>
          </a:p>
        </p:txBody>
      </p:sp>
      <p:sp>
        <p:nvSpPr>
          <p:cNvPr id="8" name="Rectangle 7"/>
          <p:cNvSpPr/>
          <p:nvPr/>
        </p:nvSpPr>
        <p:spPr>
          <a:xfrm>
            <a:off x="3619500" y="2019300"/>
            <a:ext cx="5308600" cy="342900"/>
          </a:xfrm>
          <a:prstGeom prst="rect">
            <a:avLst/>
          </a:prstGeom>
          <a:solidFill>
            <a:srgbClr val="ED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19500" y="2019300"/>
            <a:ext cx="2787015" cy="342900"/>
          </a:xfrm>
          <a:prstGeom prst="rect">
            <a:avLst/>
          </a:prstGeom>
          <a:solidFill>
            <a:srgbClr val="94A6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20200" y="1905000"/>
            <a:ext cx="2273300" cy="596900"/>
          </a:xfrm>
          <a:prstGeom prst="rect">
            <a:avLst/>
          </a:prstGeom>
          <a:noFill/>
        </p:spPr>
        <p:txBody>
          <a:bodyPr wrap="square" lIns="0" rIns="0" tIns="0" bIns="0" anchor="t">
            <a:spAutoFit/>
          </a:bodyPr>
          <a:lstStyle/>
          <a:p>
            <a:pPr algn="l">
              <a:lnSpc>
                <a:spcPct val="108000"/>
              </a:lnSpc>
              <a:spcAft>
                <a:spcPts val="0"/>
              </a:spcAft>
              <a:defRPr sz="3700" b="1" lang="th-TH">
                <a:solidFill>
                  <a:srgbClr val="526671"/>
                </a:solidFill>
                <a:latin typeface="TH Sarabun New"/>
                <a:ea typeface="TH Sarabun New"/>
                <a:cs typeface="TH Sarabun New"/>
              </a:defRPr>
            </a:pPr>
            <a:r>
              <a:t>21/40</a:t>
            </a:r>
          </a:p>
        </p:txBody>
      </p:sp>
      <p:sp>
        <p:nvSpPr>
          <p:cNvPr id="11" name="TextBox 10"/>
          <p:cNvSpPr txBox="1"/>
          <p:nvPr/>
        </p:nvSpPr>
        <p:spPr>
          <a:xfrm>
            <a:off x="609600" y="2921000"/>
            <a:ext cx="2857500" cy="508000"/>
          </a:xfrm>
          <a:prstGeom prst="rect">
            <a:avLst/>
          </a:prstGeom>
          <a:noFill/>
        </p:spPr>
        <p:txBody>
          <a:bodyPr wrap="square" lIns="0" rIns="0" tIns="0" bIns="0" anchor="t">
            <a:spAutoFit/>
          </a:bodyPr>
          <a:lstStyle/>
          <a:p>
            <a:pPr algn="l">
              <a:lnSpc>
                <a:spcPct val="108000"/>
              </a:lnSpc>
              <a:spcAft>
                <a:spcPts val="0"/>
              </a:spcAft>
              <a:defRPr sz="2700" b="1" lang="th-TH">
                <a:solidFill>
                  <a:srgbClr val="142D3B"/>
                </a:solidFill>
                <a:latin typeface="TH Sarabun New"/>
                <a:ea typeface="TH Sarabun New"/>
                <a:cs typeface="TH Sarabun New"/>
              </a:defRPr>
            </a:pPr>
            <a:r>
              <a:t>กฎ + โมเดล</a:t>
            </a:r>
          </a:p>
        </p:txBody>
      </p:sp>
      <p:sp>
        <p:nvSpPr>
          <p:cNvPr id="12" name="Rectangle 11"/>
          <p:cNvSpPr/>
          <p:nvPr/>
        </p:nvSpPr>
        <p:spPr>
          <a:xfrm>
            <a:off x="3619500" y="2997200"/>
            <a:ext cx="5308600" cy="342900"/>
          </a:xfrm>
          <a:prstGeom prst="rect">
            <a:avLst/>
          </a:prstGeom>
          <a:solidFill>
            <a:srgbClr val="ED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19500" y="2997200"/>
            <a:ext cx="5308600" cy="3429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20200" y="2882900"/>
            <a:ext cx="2273300" cy="596900"/>
          </a:xfrm>
          <a:prstGeom prst="rect">
            <a:avLst/>
          </a:prstGeom>
          <a:noFill/>
        </p:spPr>
        <p:txBody>
          <a:bodyPr wrap="square" lIns="0" rIns="0" tIns="0" bIns="0" anchor="t">
            <a:spAutoFit/>
          </a:bodyPr>
          <a:lstStyle/>
          <a:p>
            <a:pPr algn="l">
              <a:lnSpc>
                <a:spcPct val="108000"/>
              </a:lnSpc>
              <a:spcAft>
                <a:spcPts val="0"/>
              </a:spcAft>
              <a:defRPr sz="3700" b="1" lang="th-TH">
                <a:solidFill>
                  <a:srgbClr val="087F80"/>
                </a:solidFill>
                <a:latin typeface="TH Sarabun New"/>
                <a:ea typeface="TH Sarabun New"/>
                <a:cs typeface="TH Sarabun New"/>
              </a:defRPr>
            </a:pPr>
            <a:r>
              <a:t>40/40</a:t>
            </a:r>
          </a:p>
        </p:txBody>
      </p:sp>
      <p:sp>
        <p:nvSpPr>
          <p:cNvPr id="15" name="TextBox 14"/>
          <p:cNvSpPr txBox="1"/>
          <p:nvPr/>
        </p:nvSpPr>
        <p:spPr>
          <a:xfrm>
            <a:off x="609600" y="3898900"/>
            <a:ext cx="2857500" cy="508000"/>
          </a:xfrm>
          <a:prstGeom prst="rect">
            <a:avLst/>
          </a:prstGeom>
          <a:noFill/>
        </p:spPr>
        <p:txBody>
          <a:bodyPr wrap="square" lIns="0" rIns="0" tIns="0" bIns="0" anchor="t">
            <a:spAutoFit/>
          </a:bodyPr>
          <a:lstStyle/>
          <a:p>
            <a:pPr algn="l">
              <a:lnSpc>
                <a:spcPct val="108000"/>
              </a:lnSpc>
              <a:spcAft>
                <a:spcPts val="0"/>
              </a:spcAft>
              <a:defRPr sz="2700" b="1" lang="th-TH">
                <a:solidFill>
                  <a:srgbClr val="142D3B"/>
                </a:solidFill>
                <a:latin typeface="TH Sarabun New"/>
                <a:ea typeface="TH Sarabun New"/>
                <a:cs typeface="TH Sarabun New"/>
              </a:defRPr>
            </a:pPr>
            <a:r>
              <a:t>โมเดล + กฎป้องกัน</a:t>
            </a:r>
          </a:p>
        </p:txBody>
      </p:sp>
      <p:sp>
        <p:nvSpPr>
          <p:cNvPr id="16" name="Rectangle 15"/>
          <p:cNvSpPr/>
          <p:nvPr/>
        </p:nvSpPr>
        <p:spPr>
          <a:xfrm>
            <a:off x="3619500" y="3975100"/>
            <a:ext cx="5308600" cy="342900"/>
          </a:xfrm>
          <a:prstGeom prst="rect">
            <a:avLst/>
          </a:prstGeom>
          <a:solidFill>
            <a:srgbClr val="ED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19500" y="3975100"/>
            <a:ext cx="5308600" cy="3429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20200" y="3860800"/>
            <a:ext cx="2273300" cy="596900"/>
          </a:xfrm>
          <a:prstGeom prst="rect">
            <a:avLst/>
          </a:prstGeom>
          <a:noFill/>
        </p:spPr>
        <p:txBody>
          <a:bodyPr wrap="square" lIns="0" rIns="0" tIns="0" bIns="0" anchor="t">
            <a:spAutoFit/>
          </a:bodyPr>
          <a:lstStyle/>
          <a:p>
            <a:pPr algn="l">
              <a:lnSpc>
                <a:spcPct val="108000"/>
              </a:lnSpc>
              <a:spcAft>
                <a:spcPts val="0"/>
              </a:spcAft>
              <a:defRPr sz="3700" b="1" lang="th-TH">
                <a:solidFill>
                  <a:srgbClr val="087F80"/>
                </a:solidFill>
                <a:latin typeface="TH Sarabun New"/>
                <a:ea typeface="TH Sarabun New"/>
                <a:cs typeface="TH Sarabun New"/>
              </a:defRPr>
            </a:pPr>
            <a:r>
              <a:t>40/40</a:t>
            </a:r>
          </a:p>
        </p:txBody>
      </p:sp>
      <p:sp>
        <p:nvSpPr>
          <p:cNvPr id="19" name="TextBox 18"/>
          <p:cNvSpPr txBox="1"/>
          <p:nvPr/>
        </p:nvSpPr>
        <p:spPr>
          <a:xfrm>
            <a:off x="609600" y="4749800"/>
            <a:ext cx="10972800" cy="457200"/>
          </a:xfrm>
          <a:prstGeom prst="rect">
            <a:avLst/>
          </a:prstGeom>
          <a:noFill/>
        </p:spPr>
        <p:txBody>
          <a:bodyPr wrap="square" lIns="0" rIns="0" tIns="0" bIns="0" anchor="t">
            <a:spAutoFit/>
          </a:bodyPr>
          <a:lstStyle/>
          <a:p>
            <a:pPr algn="l">
              <a:lnSpc>
                <a:spcPct val="108000"/>
              </a:lnSpc>
              <a:spcAft>
                <a:spcPts val="0"/>
              </a:spcAft>
              <a:defRPr sz="2300" b="1" lang="th-TH">
                <a:solidFill>
                  <a:srgbClr val="087F80"/>
                </a:solidFill>
                <a:latin typeface="TH Sarabun New"/>
                <a:ea typeface="TH Sarabun New"/>
                <a:cs typeface="TH Sarabun New"/>
              </a:defRPr>
            </a:pPr>
            <a:r>
              <a:t>Hybrid: Rules 33 / Model 7 · p95 4.684 วินาที · เสนอเดินผิด 4 → 0 กรณี</a:t>
            </a:r>
          </a:p>
        </p:txBody>
      </p:sp>
      <p:sp>
        <p:nvSpPr>
          <p:cNvPr id="20" name="Rounded Rectangle 19"/>
          <p:cNvSpPr/>
          <p:nvPr/>
        </p:nvSpPr>
        <p:spPr>
          <a:xfrm>
            <a:off x="609600" y="5499100"/>
            <a:ext cx="10972800" cy="495300"/>
          </a:xfrm>
          <a:prstGeom prst="roundRect">
            <a:avLst>
              <a:gd name="adj" fmla="val 10000"/>
            </a:avLst>
          </a:prstGeom>
          <a:solidFill>
            <a:srgbClr val="E4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087F80"/>
                </a:solidFill>
                <a:latin typeface="TH Sarabun New"/>
                <a:ea typeface="TH Sarabun New"/>
                <a:cs typeface="TH Sarabun New"/>
              </a:defRPr>
            </a:pPr>
            <a:r>
              <a:t>7 ต.ค. 2569 · PC / dry-run · ชุดพัฒนา ไม่ใช่ unseen test หรือผลเดินจริง</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5"/>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526671"/>
                </a:solidFill>
                <a:latin typeface="TH Sarabun New"/>
                <a:ea typeface="TH Sarabun New"/>
                <a:cs typeface="TH Sarabun New"/>
              </a:defRPr>
            </a:pPr>
            <a:r>
              <a:t>AI · REMAINING WORK</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142D3B"/>
                </a:solidFill>
                <a:latin typeface="TH Sarabun New"/>
                <a:ea typeface="TH Sarabun New"/>
                <a:cs typeface="TH Sarabun New"/>
              </a:defRPr>
            </a:pPr>
            <a:r>
              <a:t>AI: งานที่ยังค้างอยู่</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526671"/>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526671"/>
                </a:solidFill>
                <a:latin typeface="TH Sarabun New"/>
                <a:ea typeface="TH Sarabun New"/>
                <a:cs typeface="TH Sarabun New"/>
              </a:defRPr>
            </a:pPr>
            <a:r>
              <a:t>18 / 19</a:t>
            </a:r>
          </a:p>
        </p:txBody>
      </p:sp>
      <p:sp>
        <p:nvSpPr>
          <p:cNvPr id="7" name="Rounded Rectangle 6"/>
          <p:cNvSpPr/>
          <p:nvPr/>
        </p:nvSpPr>
        <p:spPr>
          <a:xfrm>
            <a:off x="6096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B95A26"/>
                </a:solidFill>
                <a:latin typeface="TH Sarabun New"/>
                <a:ea typeface="TH Sarabun New"/>
                <a:cs typeface="TH Sarabun New"/>
              </a:defRPr>
            </a:pPr>
            <a:r>
              <a:t>METHOD 03</a:t>
            </a:r>
          </a:p>
        </p:txBody>
      </p:sp>
      <p:sp>
        <p:nvSpPr>
          <p:cNvPr id="9" name="TextBox 8"/>
          <p:cNvSpPr txBox="1"/>
          <p:nvPr/>
        </p:nvSpPr>
        <p:spPr>
          <a:xfrm>
            <a:off x="8382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บริบทถามกลับ</a:t>
            </a:r>
          </a:p>
        </p:txBody>
      </p:sp>
      <p:sp>
        <p:nvSpPr>
          <p:cNvPr id="10" name="TextBox 9"/>
          <p:cNvSpPr txBox="1"/>
          <p:nvPr/>
        </p:nvSpPr>
        <p:spPr>
          <a:xfrm>
            <a:off x="8382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pending intent + timeout</a:t>
            </a:r>
          </a:p>
          <a:p>
            <a:pPr algn="l">
              <a:lnSpc>
                <a:spcPct val="108000"/>
              </a:lnSpc>
              <a:spcAft>
                <a:spcPts val="0"/>
              </a:spcAft>
              <a:defRPr sz="2400" b="0" lang="th-TH">
                <a:solidFill>
                  <a:srgbClr val="142D3B"/>
                </a:solidFill>
                <a:latin typeface="TH Sarabun New"/>
                <a:ea typeface="TH Sarabun New"/>
                <a:cs typeface="TH Sarabun New"/>
              </a:defRPr>
            </a:pPr>
            <a:r>
              <a:t>อ้างจุดหมายข้ามข้อความ</a:t>
            </a:r>
          </a:p>
          <a:p>
            <a:pPr algn="l">
              <a:lnSpc>
                <a:spcPct val="108000"/>
              </a:lnSpc>
              <a:spcAft>
                <a:spcPts val="0"/>
              </a:spcAft>
              <a:defRPr sz="2400" b="0" lang="th-TH">
                <a:solidFill>
                  <a:srgbClr val="142D3B"/>
                </a:solidFill>
                <a:latin typeface="TH Sarabun New"/>
                <a:ea typeface="TH Sarabun New"/>
                <a:cs typeface="TH Sarabun New"/>
              </a:defRPr>
            </a:pPr>
            <a:r>
              <a:t>กันซ้ำ / ยกเลิก / benchmark</a:t>
            </a:r>
          </a:p>
        </p:txBody>
      </p:sp>
      <p:sp>
        <p:nvSpPr>
          <p:cNvPr id="11" name="Rounded Rectangle 10"/>
          <p:cNvSpPr/>
          <p:nvPr/>
        </p:nvSpPr>
        <p:spPr>
          <a:xfrm>
            <a:off x="43688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4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B95A26"/>
                </a:solidFill>
                <a:latin typeface="TH Sarabun New"/>
                <a:ea typeface="TH Sarabun New"/>
                <a:cs typeface="TH Sarabun New"/>
              </a:defRPr>
            </a:pPr>
            <a:r>
              <a:t>JETSON</a:t>
            </a:r>
          </a:p>
        </p:txBody>
      </p:sp>
      <p:sp>
        <p:nvSpPr>
          <p:cNvPr id="13" name="TextBox 12"/>
          <p:cNvSpPr txBox="1"/>
          <p:nvPr/>
        </p:nvSpPr>
        <p:spPr>
          <a:xfrm>
            <a:off x="45974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ย้ายและวัดโมเดล</a:t>
            </a:r>
          </a:p>
        </p:txBody>
      </p:sp>
      <p:sp>
        <p:nvSpPr>
          <p:cNvPr id="14" name="TextBox 13"/>
          <p:cNvSpPr txBox="1"/>
          <p:nvPr/>
        </p:nvSpPr>
        <p:spPr>
          <a:xfrm>
            <a:off x="45974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เริ่ม build ที่พัก</a:t>
            </a:r>
          </a:p>
          <a:p>
            <a:pPr algn="l">
              <a:lnSpc>
                <a:spcPct val="108000"/>
              </a:lnSpc>
              <a:spcAft>
                <a:spcPts val="0"/>
              </a:spcAft>
              <a:defRPr sz="2400" b="0" lang="th-TH">
                <a:solidFill>
                  <a:srgbClr val="142D3B"/>
                </a:solidFill>
                <a:latin typeface="TH Sarabun New"/>
                <a:ea typeface="TH Sarabun New"/>
                <a:cs typeface="TH Sarabun New"/>
              </a:defRPr>
            </a:pPr>
            <a:r>
              <a:t>วัด latency / RAM / เสถียรภาพ</a:t>
            </a:r>
          </a:p>
          <a:p>
            <a:pPr algn="l">
              <a:lnSpc>
                <a:spcPct val="108000"/>
              </a:lnSpc>
              <a:spcAft>
                <a:spcPts val="0"/>
              </a:spcAft>
              <a:defRPr sz="2400" b="0" lang="th-TH">
                <a:solidFill>
                  <a:srgbClr val="142D3B"/>
                </a:solidFill>
                <a:latin typeface="TH Sarabun New"/>
                <a:ea typeface="TH Sarabun New"/>
                <a:cs typeface="TH Sarabun New"/>
              </a:defRPr>
            </a:pPr>
            <a:r>
              <a:t>เลือกโมเดลจากผลบนอุปกรณ์</a:t>
            </a:r>
          </a:p>
        </p:txBody>
      </p:sp>
      <p:sp>
        <p:nvSpPr>
          <p:cNvPr id="15" name="Rounded Rectangle 14"/>
          <p:cNvSpPr/>
          <p:nvPr/>
        </p:nvSpPr>
        <p:spPr>
          <a:xfrm>
            <a:off x="8128000" y="1955800"/>
            <a:ext cx="3454400" cy="3390900"/>
          </a:xfrm>
          <a:prstGeom prst="roundRect">
            <a:avLst>
              <a:gd name="adj" fmla="val 10000"/>
            </a:avLst>
          </a:prstGeom>
          <a:solidFill>
            <a:srgbClr val="FFFFFF"/>
          </a:solidFill>
          <a:ln w="10160">
            <a:solidFill>
              <a:srgbClr val="D8E2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159000"/>
            <a:ext cx="2997200" cy="457200"/>
          </a:xfrm>
          <a:prstGeom prst="rect">
            <a:avLst/>
          </a:prstGeom>
          <a:noFill/>
        </p:spPr>
        <p:txBody>
          <a:bodyPr wrap="square" lIns="0" rIns="0" tIns="0" bIns="0" anchor="t">
            <a:spAutoFit/>
          </a:bodyPr>
          <a:lstStyle/>
          <a:p>
            <a:pPr algn="l">
              <a:lnSpc>
                <a:spcPct val="108000"/>
              </a:lnSpc>
              <a:spcAft>
                <a:spcPts val="0"/>
              </a:spcAft>
              <a:defRPr sz="2500" b="1" lang="th-TH">
                <a:solidFill>
                  <a:srgbClr val="B95A26"/>
                </a:solidFill>
                <a:latin typeface="TH Sarabun New"/>
                <a:ea typeface="TH Sarabun New"/>
                <a:cs typeface="TH Sarabun New"/>
              </a:defRPr>
            </a:pPr>
            <a:r>
              <a:t>VOICE</a:t>
            </a:r>
          </a:p>
        </p:txBody>
      </p:sp>
      <p:sp>
        <p:nvSpPr>
          <p:cNvPr id="17" name="TextBox 16"/>
          <p:cNvSpPr txBox="1"/>
          <p:nvPr/>
        </p:nvSpPr>
        <p:spPr>
          <a:xfrm>
            <a:off x="8356600" y="2717800"/>
            <a:ext cx="2997200" cy="736600"/>
          </a:xfrm>
          <a:prstGeom prst="rect">
            <a:avLst/>
          </a:prstGeom>
          <a:noFill/>
        </p:spPr>
        <p:txBody>
          <a:bodyPr wrap="square" lIns="0" rIns="0" tIns="0" bIns="0" anchor="t">
            <a:spAutoFit/>
          </a:bodyPr>
          <a:lstStyle/>
          <a:p>
            <a:pPr algn="l">
              <a:lnSpc>
                <a:spcPct val="108000"/>
              </a:lnSpc>
              <a:spcAft>
                <a:spcPts val="0"/>
              </a:spcAft>
              <a:defRPr sz="2900" b="1" lang="th-TH">
                <a:solidFill>
                  <a:srgbClr val="142D3B"/>
                </a:solidFill>
                <a:latin typeface="TH Sarabun New"/>
                <a:ea typeface="TH Sarabun New"/>
                <a:cs typeface="TH Sarabun New"/>
              </a:defRPr>
            </a:pPr>
            <a:r>
              <a:t>STT / TTS</a:t>
            </a:r>
          </a:p>
        </p:txBody>
      </p:sp>
      <p:sp>
        <p:nvSpPr>
          <p:cNvPr id="18" name="TextBox 17"/>
          <p:cNvSpPr txBox="1"/>
          <p:nvPr/>
        </p:nvSpPr>
        <p:spPr>
          <a:xfrm>
            <a:off x="8356600" y="3581400"/>
            <a:ext cx="2997200" cy="1574800"/>
          </a:xfrm>
          <a:prstGeom prst="rect">
            <a:avLst/>
          </a:prstGeom>
          <a:noFill/>
        </p:spPr>
        <p:txBody>
          <a:bodyPr wrap="square" lIns="0" rIns="0" tIns="0" bIns="0" anchor="t">
            <a:spAutoFit/>
          </a:bodyPr>
          <a:lstStyle/>
          <a:p>
            <a:pPr algn="l">
              <a:lnSpc>
                <a:spcPct val="108000"/>
              </a:lnSpc>
              <a:spcAft>
                <a:spcPts val="0"/>
              </a:spcAft>
              <a:defRPr sz="2400" b="0" lang="th-TH">
                <a:solidFill>
                  <a:srgbClr val="142D3B"/>
                </a:solidFill>
                <a:latin typeface="TH Sarabun New"/>
                <a:ea typeface="TH Sarabun New"/>
                <a:cs typeface="TH Sarabun New"/>
              </a:defRPr>
            </a:pPr>
            <a:r>
              <a:t>รับเสียงและอ่านข้อความ</a:t>
            </a:r>
          </a:p>
          <a:p>
            <a:pPr algn="l">
              <a:lnSpc>
                <a:spcPct val="108000"/>
              </a:lnSpc>
              <a:spcAft>
                <a:spcPts val="0"/>
              </a:spcAft>
              <a:defRPr sz="2400" b="0" lang="th-TH">
                <a:solidFill>
                  <a:srgbClr val="142D3B"/>
                </a:solidFill>
                <a:latin typeface="TH Sarabun New"/>
                <a:ea typeface="TH Sarabun New"/>
                <a:cs typeface="TH Sarabun New"/>
              </a:defRPr>
            </a:pPr>
            <a:r>
              <a:t>วัดคุณภาพและความหน่วง</a:t>
            </a:r>
          </a:p>
          <a:p>
            <a:pPr algn="l">
              <a:lnSpc>
                <a:spcPct val="108000"/>
              </a:lnSpc>
              <a:spcAft>
                <a:spcPts val="0"/>
              </a:spcAft>
              <a:defRPr sz="2400" b="0" lang="th-TH">
                <a:solidFill>
                  <a:srgbClr val="142D3B"/>
                </a:solidFill>
                <a:latin typeface="TH Sarabun New"/>
                <a:ea typeface="TH Sarabun New"/>
                <a:cs typeface="TH Sarabun New"/>
              </a:defRPr>
            </a:pPr>
            <a:r>
              <a:t>ตรวจร่วมกับอุปกรณ์จริง</a:t>
            </a:r>
          </a:p>
        </p:txBody>
      </p:sp>
      <p:sp>
        <p:nvSpPr>
          <p:cNvPr id="19" name="Rounded Rectangle 18"/>
          <p:cNvSpPr/>
          <p:nvPr/>
        </p:nvSpPr>
        <p:spPr>
          <a:xfrm>
            <a:off x="609600" y="5499100"/>
            <a:ext cx="10972800" cy="495300"/>
          </a:xfrm>
          <a:prstGeom prst="roundRect">
            <a:avLst>
              <a:gd name="adj" fmla="val 10000"/>
            </a:avLst>
          </a:prstGeom>
          <a:solidFill>
            <a:srgbClr val="F9E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400" y="5562600"/>
            <a:ext cx="10617200" cy="381000"/>
          </a:xfrm>
          <a:prstGeom prst="rect">
            <a:avLst/>
          </a:prstGeom>
          <a:noFill/>
        </p:spPr>
        <p:txBody>
          <a:bodyPr wrap="square" lIns="0" rIns="0" tIns="0" bIns="0" anchor="t">
            <a:spAutoFit/>
          </a:bodyPr>
          <a:lstStyle/>
          <a:p>
            <a:pPr algn="l">
              <a:lnSpc>
                <a:spcPct val="108000"/>
              </a:lnSpc>
              <a:spcAft>
                <a:spcPts val="0"/>
              </a:spcAft>
              <a:defRPr sz="2100" b="1" lang="th-TH">
                <a:solidFill>
                  <a:srgbClr val="B95A26"/>
                </a:solidFill>
                <a:latin typeface="TH Sarabun New"/>
                <a:ea typeface="TH Sarabun New"/>
                <a:cs typeface="TH Sarabun New"/>
              </a:defRPr>
            </a:pPr>
            <a:r>
              <a:t>วิธีที่ 1–2 ทำแล้ว · วิธีที่ 3, Jetson และระบบเสียงยังค้าง</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D3B"/>
        </a:solidFill>
        <a:effectLst/>
      </p:bgPr>
    </p:bg>
    <p:spTree>
      <p:nvGrpSpPr>
        <p:cNvPr id="1" name=""/>
        <p:cNvGrpSpPr/>
        <p:nvPr/>
      </p:nvGrpSpPr>
      <p:grpSpPr/>
      <p:sp>
        <p:nvSpPr>
          <p:cNvPr id="2" name="Rectangle 1"/>
          <p:cNvSpPr/>
          <p:nvPr/>
        </p:nvSpPr>
        <p:spPr>
          <a:xfrm>
            <a:off x="609600" y="444500"/>
            <a:ext cx="431800" cy="63500"/>
          </a:xfrm>
          <a:prstGeom prst="rect">
            <a:avLst/>
          </a:prstGeom>
          <a:solidFill>
            <a:srgbClr val="08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8400" y="292100"/>
            <a:ext cx="10033000" cy="342900"/>
          </a:xfrm>
          <a:prstGeom prst="rect">
            <a:avLst/>
          </a:prstGeom>
          <a:noFill/>
        </p:spPr>
        <p:txBody>
          <a:bodyPr wrap="square" lIns="0" rIns="0" tIns="0" bIns="0" anchor="t">
            <a:spAutoFit/>
          </a:bodyPr>
          <a:lstStyle/>
          <a:p>
            <a:pPr algn="l">
              <a:lnSpc>
                <a:spcPct val="108000"/>
              </a:lnSpc>
              <a:spcAft>
                <a:spcPts val="0"/>
              </a:spcAft>
              <a:defRPr sz="1700" b="1" lang="th-TH">
                <a:solidFill>
                  <a:srgbClr val="AFC6CD"/>
                </a:solidFill>
                <a:latin typeface="TH Sarabun New"/>
                <a:ea typeface="TH Sarabun New"/>
                <a:cs typeface="TH Sarabun New"/>
              </a:defRPr>
            </a:pPr>
            <a:r>
              <a:t>SUMMARY · Q&amp;A</a:t>
            </a:r>
          </a:p>
        </p:txBody>
      </p:sp>
      <p:sp>
        <p:nvSpPr>
          <p:cNvPr id="4" name="TextBox 3"/>
          <p:cNvSpPr txBox="1"/>
          <p:nvPr/>
        </p:nvSpPr>
        <p:spPr>
          <a:xfrm>
            <a:off x="609600" y="800100"/>
            <a:ext cx="10972800" cy="876300"/>
          </a:xfrm>
          <a:prstGeom prst="rect">
            <a:avLst/>
          </a:prstGeom>
          <a:noFill/>
        </p:spPr>
        <p:txBody>
          <a:bodyPr wrap="square" lIns="0" rIns="0" tIns="0" bIns="0" anchor="t">
            <a:spAutoFit/>
          </a:bodyPr>
          <a:lstStyle/>
          <a:p>
            <a:pPr algn="l">
              <a:lnSpc>
                <a:spcPct val="108000"/>
              </a:lnSpc>
              <a:spcAft>
                <a:spcPts val="0"/>
              </a:spcAft>
              <a:defRPr sz="3600" b="1" lang="th-TH">
                <a:solidFill>
                  <a:srgbClr val="FFFFFF"/>
                </a:solidFill>
                <a:latin typeface="TH Sarabun New"/>
                <a:ea typeface="TH Sarabun New"/>
                <a:cs typeface="TH Sarabun New"/>
              </a:defRPr>
            </a:pPr>
            <a:r>
              <a:t>สรุปความคืบหน้า Website และ AI</a:t>
            </a:r>
          </a:p>
        </p:txBody>
      </p:sp>
      <p:sp>
        <p:nvSpPr>
          <p:cNvPr id="5" name="TextBox 4"/>
          <p:cNvSpPr txBox="1"/>
          <p:nvPr/>
        </p:nvSpPr>
        <p:spPr>
          <a:xfrm>
            <a:off x="609600" y="6388100"/>
            <a:ext cx="6858000" cy="279400"/>
          </a:xfrm>
          <a:prstGeom prst="rect">
            <a:avLst/>
          </a:prstGeom>
          <a:noFill/>
        </p:spPr>
        <p:txBody>
          <a:bodyPr wrap="square" lIns="0" rIns="0" tIns="0" bIns="0" anchor="t">
            <a:spAutoFit/>
          </a:bodyPr>
          <a:lstStyle/>
          <a:p>
            <a:pPr algn="l">
              <a:lnSpc>
                <a:spcPct val="108000"/>
              </a:lnSpc>
              <a:spcAft>
                <a:spcPts val="0"/>
              </a:spcAft>
              <a:defRPr sz="1400" b="0" lang="th-TH">
                <a:solidFill>
                  <a:srgbClr val="AFC6CD"/>
                </a:solidFill>
                <a:latin typeface="TH Sarabun New"/>
                <a:ea typeface="TH Sarabun New"/>
                <a:cs typeface="TH Sarabun New"/>
              </a:defRPr>
            </a:pPr>
            <a:r>
              <a:t>AI ROBOT BUTLER  ·  WEBSITE + AI PROGRESS</a:t>
            </a:r>
          </a:p>
        </p:txBody>
      </p:sp>
      <p:sp>
        <p:nvSpPr>
          <p:cNvPr id="6" name="TextBox 5"/>
          <p:cNvSpPr txBox="1"/>
          <p:nvPr/>
        </p:nvSpPr>
        <p:spPr>
          <a:xfrm>
            <a:off x="10248900" y="6362700"/>
            <a:ext cx="1320800" cy="304800"/>
          </a:xfrm>
          <a:prstGeom prst="rect">
            <a:avLst/>
          </a:prstGeom>
          <a:noFill/>
        </p:spPr>
        <p:txBody>
          <a:bodyPr wrap="square" lIns="0" rIns="0" tIns="0" bIns="0" anchor="t">
            <a:spAutoFit/>
          </a:bodyPr>
          <a:lstStyle/>
          <a:p>
            <a:pPr algn="r">
              <a:lnSpc>
                <a:spcPct val="108000"/>
              </a:lnSpc>
              <a:spcAft>
                <a:spcPts val="0"/>
              </a:spcAft>
              <a:defRPr sz="1600" b="0" lang="th-TH">
                <a:solidFill>
                  <a:srgbClr val="AFC6CD"/>
                </a:solidFill>
                <a:latin typeface="TH Sarabun New"/>
                <a:ea typeface="TH Sarabun New"/>
                <a:cs typeface="TH Sarabun New"/>
              </a:defRPr>
            </a:pPr>
            <a:r>
              <a:t>19 / 19</a:t>
            </a:r>
          </a:p>
        </p:txBody>
      </p:sp>
      <p:sp>
        <p:nvSpPr>
          <p:cNvPr id="7" name="TextBox 6"/>
          <p:cNvSpPr txBox="1"/>
          <p:nvPr/>
        </p:nvSpPr>
        <p:spPr>
          <a:xfrm>
            <a:off x="660400" y="2171700"/>
            <a:ext cx="5207000" cy="647700"/>
          </a:xfrm>
          <a:prstGeom prst="rect">
            <a:avLst/>
          </a:prstGeom>
          <a:noFill/>
        </p:spPr>
        <p:txBody>
          <a:bodyPr wrap="square" lIns="0" rIns="0" tIns="0" bIns="0" anchor="t">
            <a:spAutoFit/>
          </a:bodyPr>
          <a:lstStyle/>
          <a:p>
            <a:pPr algn="l">
              <a:lnSpc>
                <a:spcPct val="108000"/>
              </a:lnSpc>
              <a:spcAft>
                <a:spcPts val="0"/>
              </a:spcAft>
              <a:defRPr sz="3800" b="1" lang="th-TH">
                <a:solidFill>
                  <a:srgbClr val="72D3C5"/>
                </a:solidFill>
                <a:latin typeface="TH Sarabun New"/>
                <a:ea typeface="TH Sarabun New"/>
                <a:cs typeface="TH Sarabun New"/>
              </a:defRPr>
            </a:pPr>
            <a:r>
              <a:t>WEBSITE</a:t>
            </a:r>
          </a:p>
        </p:txBody>
      </p:sp>
      <p:sp>
        <p:nvSpPr>
          <p:cNvPr id="8" name="TextBox 7"/>
          <p:cNvSpPr txBox="1"/>
          <p:nvPr/>
        </p:nvSpPr>
        <p:spPr>
          <a:xfrm>
            <a:off x="6489700" y="2171700"/>
            <a:ext cx="5080000" cy="647700"/>
          </a:xfrm>
          <a:prstGeom prst="rect">
            <a:avLst/>
          </a:prstGeom>
          <a:noFill/>
        </p:spPr>
        <p:txBody>
          <a:bodyPr wrap="square" lIns="0" rIns="0" tIns="0" bIns="0" anchor="t">
            <a:spAutoFit/>
          </a:bodyPr>
          <a:lstStyle/>
          <a:p>
            <a:pPr algn="l">
              <a:lnSpc>
                <a:spcPct val="108000"/>
              </a:lnSpc>
              <a:spcAft>
                <a:spcPts val="0"/>
              </a:spcAft>
              <a:defRPr sz="3800" b="1" lang="th-TH">
                <a:solidFill>
                  <a:srgbClr val="72D3C5"/>
                </a:solidFill>
                <a:latin typeface="TH Sarabun New"/>
                <a:ea typeface="TH Sarabun New"/>
                <a:cs typeface="TH Sarabun New"/>
              </a:defRPr>
            </a:pPr>
            <a:r>
              <a:t>AI</a:t>
            </a:r>
          </a:p>
        </p:txBody>
      </p:sp>
      <p:sp>
        <p:nvSpPr>
          <p:cNvPr id="9" name="TextBox 8"/>
          <p:cNvSpPr txBox="1"/>
          <p:nvPr/>
        </p:nvSpPr>
        <p:spPr>
          <a:xfrm>
            <a:off x="660400" y="3149600"/>
            <a:ext cx="5207000" cy="1244600"/>
          </a:xfrm>
          <a:prstGeom prst="rect">
            <a:avLst/>
          </a:prstGeom>
          <a:noFill/>
        </p:spPr>
        <p:txBody>
          <a:bodyPr wrap="square" lIns="0" rIns="0" tIns="0" bIns="0" anchor="t">
            <a:spAutoFit/>
          </a:bodyPr>
          <a:lstStyle/>
          <a:p>
            <a:pPr algn="l">
              <a:lnSpc>
                <a:spcPct val="108000"/>
              </a:lnSpc>
              <a:spcAft>
                <a:spcPts val="0"/>
              </a:spcAft>
              <a:defRPr sz="2900" b="0" lang="th-TH">
                <a:solidFill>
                  <a:srgbClr val="FFFFFF"/>
                </a:solidFill>
                <a:latin typeface="TH Sarabun New"/>
                <a:ea typeface="TH Sarabun New"/>
                <a:cs typeface="TH Sarabun New"/>
              </a:defRPr>
            </a:pPr>
            <a:r>
              <a:t>Admin / Robot Interface / POI ทำแล้ว</a:t>
            </a:r>
          </a:p>
          <a:p>
            <a:pPr algn="l">
              <a:lnSpc>
                <a:spcPct val="108000"/>
              </a:lnSpc>
              <a:spcAft>
                <a:spcPts val="0"/>
              </a:spcAft>
              <a:defRPr sz="2900" b="0" lang="th-TH">
                <a:solidFill>
                  <a:srgbClr val="FFFFFF"/>
                </a:solidFill>
                <a:latin typeface="TH Sarabun New"/>
                <a:ea typeface="TH Sarabun New"/>
                <a:cs typeface="TH Sarabun New"/>
              </a:defRPr>
            </a:pPr>
            <a:r>
              <a:t>Upload / แก้แผนที่ / โหมด ยังค้าง</a:t>
            </a:r>
          </a:p>
        </p:txBody>
      </p:sp>
      <p:sp>
        <p:nvSpPr>
          <p:cNvPr id="10" name="TextBox 9"/>
          <p:cNvSpPr txBox="1"/>
          <p:nvPr/>
        </p:nvSpPr>
        <p:spPr>
          <a:xfrm>
            <a:off x="6489700" y="3149600"/>
            <a:ext cx="5080000" cy="1244600"/>
          </a:xfrm>
          <a:prstGeom prst="rect">
            <a:avLst/>
          </a:prstGeom>
          <a:noFill/>
        </p:spPr>
        <p:txBody>
          <a:bodyPr wrap="square" lIns="0" rIns="0" tIns="0" bIns="0" anchor="t">
            <a:spAutoFit/>
          </a:bodyPr>
          <a:lstStyle/>
          <a:p>
            <a:pPr algn="l">
              <a:lnSpc>
                <a:spcPct val="108000"/>
              </a:lnSpc>
              <a:spcAft>
                <a:spcPts val="0"/>
              </a:spcAft>
              <a:defRPr sz="2900" b="0" lang="th-TH">
                <a:solidFill>
                  <a:srgbClr val="FFFFFF"/>
                </a:solidFill>
                <a:latin typeface="TH Sarabun New"/>
                <a:ea typeface="TH Sarabun New"/>
                <a:cs typeface="TH Sarabun New"/>
              </a:defRPr>
            </a:pPr>
            <a:r>
              <a:t>Rules + LLM + Validation ทำแล้ว</a:t>
            </a:r>
          </a:p>
          <a:p>
            <a:pPr algn="l">
              <a:lnSpc>
                <a:spcPct val="108000"/>
              </a:lnSpc>
              <a:spcAft>
                <a:spcPts val="0"/>
              </a:spcAft>
              <a:defRPr sz="2900" b="0" lang="th-TH">
                <a:solidFill>
                  <a:srgbClr val="FFFFFF"/>
                </a:solidFill>
                <a:latin typeface="TH Sarabun New"/>
                <a:ea typeface="TH Sarabun New"/>
                <a:cs typeface="TH Sarabun New"/>
              </a:defRPr>
            </a:pPr>
            <a:r>
              <a:t>บริบท / Jetson / เสียง ยังค้าง</a:t>
            </a:r>
          </a:p>
        </p:txBody>
      </p:sp>
      <p:sp>
        <p:nvSpPr>
          <p:cNvPr id="11" name="TextBox 10"/>
          <p:cNvSpPr txBox="1"/>
          <p:nvPr/>
        </p:nvSpPr>
        <p:spPr>
          <a:xfrm>
            <a:off x="660400" y="4940300"/>
            <a:ext cx="10807700" cy="546100"/>
          </a:xfrm>
          <a:prstGeom prst="rect">
            <a:avLst/>
          </a:prstGeom>
          <a:noFill/>
        </p:spPr>
        <p:txBody>
          <a:bodyPr wrap="square" lIns="0" rIns="0" tIns="0" bIns="0" anchor="t">
            <a:spAutoFit/>
          </a:bodyPr>
          <a:lstStyle/>
          <a:p>
            <a:pPr algn="l">
              <a:lnSpc>
                <a:spcPct val="108000"/>
              </a:lnSpc>
              <a:spcAft>
                <a:spcPts val="0"/>
              </a:spcAft>
              <a:defRPr sz="2700" b="0" lang="th-TH">
                <a:solidFill>
                  <a:srgbClr val="AFC6CD"/>
                </a:solidFill>
                <a:latin typeface="TH Sarabun New"/>
                <a:ea typeface="TH Sarabun New"/>
                <a:cs typeface="TH Sarabun New"/>
              </a:defRPr>
            </a:pPr>
            <a:r>
              <a:t>52 tests ระบบรวม · AI regression 40/40 · ใช้หลักฐานเดิม</a:t>
            </a:r>
          </a:p>
        </p:txBody>
      </p:sp>
      <p:sp>
        <p:nvSpPr>
          <p:cNvPr id="12" name="TextBox 11"/>
          <p:cNvSpPr txBox="1"/>
          <p:nvPr/>
        </p:nvSpPr>
        <p:spPr>
          <a:xfrm>
            <a:off x="660400" y="5626100"/>
            <a:ext cx="6477000" cy="444500"/>
          </a:xfrm>
          <a:prstGeom prst="rect">
            <a:avLst/>
          </a:prstGeom>
          <a:noFill/>
        </p:spPr>
        <p:txBody>
          <a:bodyPr wrap="square" lIns="0" rIns="0" tIns="0" bIns="0" anchor="t">
            <a:spAutoFit/>
          </a:bodyPr>
          <a:lstStyle/>
          <a:p>
            <a:pPr algn="l">
              <a:lnSpc>
                <a:spcPct val="108000"/>
              </a:lnSpc>
              <a:spcAft>
                <a:spcPts val="0"/>
              </a:spcAft>
              <a:defRPr sz="2900" b="1" lang="th-TH">
                <a:solidFill>
                  <a:srgbClr val="FFFFFF"/>
                </a:solidFill>
                <a:latin typeface="TH Sarabun New"/>
                <a:ea typeface="TH Sarabun New"/>
                <a:cs typeface="TH Sarabun New"/>
              </a:defRPr>
            </a:pPr>
            <a:r>
              <a:t>ขอบคุณครับ / ค่ะ</a:t>
            </a:r>
          </a:p>
        </p:txBody>
      </p:sp>
      <p:sp>
        <p:nvSpPr>
          <p:cNvPr id="13" name="TextBox 12"/>
          <p:cNvSpPr txBox="1"/>
          <p:nvPr/>
        </p:nvSpPr>
        <p:spPr>
          <a:xfrm>
            <a:off x="9740900" y="5448300"/>
            <a:ext cx="1739900" cy="673100"/>
          </a:xfrm>
          <a:prstGeom prst="rect">
            <a:avLst/>
          </a:prstGeom>
          <a:noFill/>
        </p:spPr>
        <p:txBody>
          <a:bodyPr wrap="square" lIns="0" rIns="0" tIns="0" bIns="0" anchor="t">
            <a:spAutoFit/>
          </a:bodyPr>
          <a:lstStyle/>
          <a:p>
            <a:pPr algn="r">
              <a:lnSpc>
                <a:spcPct val="108000"/>
              </a:lnSpc>
              <a:spcAft>
                <a:spcPts val="0"/>
              </a:spcAft>
              <a:defRPr sz="3600" b="1" lang="th-TH">
                <a:solidFill>
                  <a:srgbClr val="72D3C5"/>
                </a:solidFill>
                <a:latin typeface="TH Sarabun New"/>
                <a:ea typeface="TH Sarabun New"/>
                <a:cs typeface="TH Sarabun New"/>
              </a:defRPr>
            </a:pPr>
            <a: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Robot Butler — Website &amp; AI Progress — Revised</dc:title>
  <dc:subject/>
  <dc:creator>[กรอกชื่อผู้จัดทำ]</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